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172973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9205" y="1105981"/>
            <a:ext cx="1714753" cy="17147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687" y="2924543"/>
            <a:ext cx="7981315" cy="163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C9D5D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rgbClr val="C9D5D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4630400" cy="17297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2995" y="764425"/>
            <a:ext cx="877443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08560" y="2370988"/>
            <a:ext cx="6604634" cy="5382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C9D5D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95"/>
              </a:spcBef>
              <a:tabLst>
                <a:tab pos="994410" algn="l"/>
                <a:tab pos="3873500" algn="l"/>
              </a:tabLst>
            </a:pPr>
            <a:r>
              <a:rPr dirty="0" sz="4800" b="1">
                <a:solidFill>
                  <a:srgbClr val="000E37"/>
                </a:solidFill>
                <a:latin typeface="Arial"/>
                <a:cs typeface="Arial"/>
              </a:rPr>
              <a:t>Predicting</a:t>
            </a:r>
            <a:r>
              <a:rPr dirty="0" sz="4800" spc="-290" b="1">
                <a:solidFill>
                  <a:srgbClr val="000E37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000E37"/>
                </a:solidFill>
                <a:latin typeface="Arial"/>
                <a:cs typeface="Arial"/>
              </a:rPr>
              <a:t>Customer</a:t>
            </a:r>
            <a:r>
              <a:rPr dirty="0" sz="4800" spc="-245" b="1">
                <a:solidFill>
                  <a:srgbClr val="000E37"/>
                </a:solidFill>
                <a:latin typeface="Arial"/>
                <a:cs typeface="Arial"/>
              </a:rPr>
              <a:t> </a:t>
            </a:r>
            <a:r>
              <a:rPr dirty="0" sz="4800" spc="-10" b="1">
                <a:solidFill>
                  <a:srgbClr val="000E37"/>
                </a:solidFill>
                <a:latin typeface="Arial"/>
                <a:cs typeface="Arial"/>
              </a:rPr>
              <a:t>Churn </a:t>
            </a:r>
            <a:r>
              <a:rPr dirty="0" sz="4800" spc="-25" b="1">
                <a:solidFill>
                  <a:srgbClr val="000E37"/>
                </a:solidFill>
                <a:latin typeface="Arial"/>
                <a:cs typeface="Arial"/>
              </a:rPr>
              <a:t>for</a:t>
            </a:r>
            <a:r>
              <a:rPr dirty="0" sz="4800" b="1">
                <a:solidFill>
                  <a:srgbClr val="000E37"/>
                </a:solidFill>
                <a:latin typeface="Arial"/>
                <a:cs typeface="Arial"/>
              </a:rPr>
              <a:t>	</a:t>
            </a:r>
            <a:r>
              <a:rPr dirty="0" sz="4800" spc="-10" b="1">
                <a:solidFill>
                  <a:srgbClr val="000E37"/>
                </a:solidFill>
                <a:latin typeface="Arial"/>
                <a:cs typeface="Arial"/>
              </a:rPr>
              <a:t>Business</a:t>
            </a:r>
            <a:r>
              <a:rPr dirty="0" sz="4800" b="1">
                <a:solidFill>
                  <a:srgbClr val="000E37"/>
                </a:solidFill>
                <a:latin typeface="Arial"/>
                <a:cs typeface="Arial"/>
              </a:rPr>
              <a:t>	</a:t>
            </a:r>
            <a:r>
              <a:rPr dirty="0" sz="4800" spc="-10" b="1">
                <a:solidFill>
                  <a:srgbClr val="000E37"/>
                </a:solidFill>
                <a:latin typeface="Arial"/>
                <a:cs typeface="Arial"/>
              </a:rPr>
              <a:t>Growth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3112" y="4726597"/>
            <a:ext cx="808355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dirty="0" sz="1850" spc="-10" b="1">
                <a:latin typeface="Arial"/>
                <a:cs typeface="Arial"/>
              </a:rPr>
              <a:t>(Proyect-TelecomX-1-ETL-Latam-Cynthia_-</a:t>
            </a:r>
            <a:r>
              <a:rPr dirty="0" sz="1850" b="1">
                <a:latin typeface="Arial"/>
                <a:cs typeface="Arial"/>
              </a:rPr>
              <a:t>Challenge</a:t>
            </a:r>
            <a:r>
              <a:rPr dirty="0" sz="1850" spc="30" b="1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Telecom</a:t>
            </a:r>
            <a:r>
              <a:rPr dirty="0" sz="1850" spc="35" b="1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X</a:t>
            </a:r>
            <a:r>
              <a:rPr dirty="0" sz="1850" spc="35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análisis </a:t>
            </a:r>
            <a:r>
              <a:rPr dirty="0" sz="1850" b="1">
                <a:latin typeface="Arial"/>
                <a:cs typeface="Arial"/>
              </a:rPr>
              <a:t>de</a:t>
            </a:r>
            <a:r>
              <a:rPr dirty="0" sz="1850" spc="-25" b="1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evasión</a:t>
            </a:r>
            <a:r>
              <a:rPr dirty="0" sz="1850" spc="-20" b="1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de</a:t>
            </a:r>
            <a:r>
              <a:rPr dirty="0" sz="1850" spc="-25" b="1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clientes</a:t>
            </a:r>
            <a:r>
              <a:rPr dirty="0" sz="1850" spc="-20" b="1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-</a:t>
            </a:r>
            <a:r>
              <a:rPr dirty="0" sz="1850" spc="-25" b="1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Parte</a:t>
            </a:r>
            <a:r>
              <a:rPr dirty="0" sz="1850" spc="-25" b="1">
                <a:latin typeface="Arial"/>
                <a:cs typeface="Arial"/>
              </a:rPr>
              <a:t> 2)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4" name="object 4" descr="A red oval shaped logo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7765" y="6135454"/>
            <a:ext cx="1619249" cy="1209674"/>
          </a:xfrm>
          <a:prstGeom prst="rect">
            <a:avLst/>
          </a:prstGeom>
        </p:spPr>
      </p:pic>
      <p:pic>
        <p:nvPicPr>
          <p:cNvPr id="5" name="object 5" descr="A logo on a white background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82194" y="3275624"/>
            <a:ext cx="3809999" cy="21431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74866" y="540842"/>
            <a:ext cx="94488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/>
              <a:t>Agenda</a:t>
            </a:r>
            <a:endParaRPr sz="2100"/>
          </a:p>
        </p:txBody>
      </p:sp>
      <p:sp>
        <p:nvSpPr>
          <p:cNvPr id="3" name="object 3"/>
          <p:cNvSpPr txBox="1"/>
          <p:nvPr/>
        </p:nvSpPr>
        <p:spPr>
          <a:xfrm>
            <a:off x="4571491" y="1037742"/>
            <a:ext cx="4059554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>
                <a:solidFill>
                  <a:srgbClr val="FFFFFF"/>
                </a:solidFill>
                <a:latin typeface="Arial"/>
                <a:cs typeface="Arial"/>
              </a:rPr>
              <a:t>Project </a:t>
            </a:r>
            <a:r>
              <a:rPr dirty="0" sz="4200" spc="-10">
                <a:solidFill>
                  <a:srgbClr val="FFFFFF"/>
                </a:solidFill>
                <a:latin typeface="Arial"/>
                <a:cs typeface="Arial"/>
              </a:rPr>
              <a:t>Overview</a:t>
            </a:r>
            <a:endParaRPr sz="4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4656" y="2250351"/>
            <a:ext cx="27305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01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7128" y="2557145"/>
            <a:ext cx="4193540" cy="30480"/>
          </a:xfrm>
          <a:custGeom>
            <a:avLst/>
            <a:gdLst/>
            <a:ahLst/>
            <a:cxnLst/>
            <a:rect l="l" t="t" r="r" b="b"/>
            <a:pathLst>
              <a:path w="4193540" h="30480">
                <a:moveTo>
                  <a:pt x="4193540" y="0"/>
                </a:moveTo>
                <a:lnTo>
                  <a:pt x="0" y="0"/>
                </a:lnTo>
                <a:lnTo>
                  <a:pt x="0" y="30479"/>
                </a:lnTo>
                <a:lnTo>
                  <a:pt x="4193540" y="30479"/>
                </a:lnTo>
                <a:lnTo>
                  <a:pt x="4193540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06110" y="2250351"/>
            <a:ext cx="27305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02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18429" y="2557145"/>
            <a:ext cx="4193540" cy="30480"/>
          </a:xfrm>
          <a:custGeom>
            <a:avLst/>
            <a:gdLst/>
            <a:ahLst/>
            <a:cxnLst/>
            <a:rect l="l" t="t" r="r" b="b"/>
            <a:pathLst>
              <a:path w="4193540" h="30480">
                <a:moveTo>
                  <a:pt x="4193539" y="0"/>
                </a:moveTo>
                <a:lnTo>
                  <a:pt x="0" y="0"/>
                </a:lnTo>
                <a:lnTo>
                  <a:pt x="0" y="30479"/>
                </a:lnTo>
                <a:lnTo>
                  <a:pt x="4193539" y="30479"/>
                </a:lnTo>
                <a:lnTo>
                  <a:pt x="4193539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627869" y="2250351"/>
            <a:ext cx="27305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03</a:t>
            </a:r>
            <a:endParaRPr sz="17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39681" y="2557145"/>
            <a:ext cx="4194175" cy="30480"/>
          </a:xfrm>
          <a:custGeom>
            <a:avLst/>
            <a:gdLst/>
            <a:ahLst/>
            <a:cxnLst/>
            <a:rect l="l" t="t" r="r" b="b"/>
            <a:pathLst>
              <a:path w="4194175" h="30480">
                <a:moveTo>
                  <a:pt x="4193667" y="0"/>
                </a:moveTo>
                <a:lnTo>
                  <a:pt x="0" y="0"/>
                </a:lnTo>
                <a:lnTo>
                  <a:pt x="0" y="30479"/>
                </a:lnTo>
                <a:lnTo>
                  <a:pt x="4193667" y="30479"/>
                </a:lnTo>
                <a:lnTo>
                  <a:pt x="4193667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84656" y="2646756"/>
            <a:ext cx="23825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C9D5DE"/>
                </a:solidFill>
                <a:latin typeface="Arial"/>
                <a:cs typeface="Arial"/>
              </a:rPr>
              <a:t>Analytical</a:t>
            </a:r>
            <a:r>
              <a:rPr dirty="0" sz="2100" spc="-4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C9D5DE"/>
                </a:solidFill>
                <a:latin typeface="Arial"/>
                <a:cs typeface="Arial"/>
              </a:rPr>
              <a:t>Summary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4656" y="3205683"/>
            <a:ext cx="2846705" cy="559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Overview</a:t>
            </a: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of</a:t>
            </a:r>
            <a:r>
              <a:rPr dirty="0" sz="1750" spc="-5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churn</a:t>
            </a:r>
            <a:r>
              <a:rPr dirty="0" sz="175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C9D5DE"/>
                </a:solidFill>
                <a:latin typeface="Arial"/>
                <a:cs typeface="Arial"/>
              </a:rPr>
              <a:t>prediction pipeline</a:t>
            </a:r>
            <a:endParaRPr sz="17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656" y="4283418"/>
            <a:ext cx="27305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04</a:t>
            </a:r>
            <a:endParaRPr sz="17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7128" y="4576826"/>
            <a:ext cx="4193540" cy="30480"/>
          </a:xfrm>
          <a:custGeom>
            <a:avLst/>
            <a:gdLst/>
            <a:ahLst/>
            <a:cxnLst/>
            <a:rect l="l" t="t" r="r" b="b"/>
            <a:pathLst>
              <a:path w="4193540" h="30479">
                <a:moveTo>
                  <a:pt x="4193540" y="0"/>
                </a:moveTo>
                <a:lnTo>
                  <a:pt x="0" y="0"/>
                </a:lnTo>
                <a:lnTo>
                  <a:pt x="0" y="30479"/>
                </a:lnTo>
                <a:lnTo>
                  <a:pt x="4193540" y="30479"/>
                </a:lnTo>
                <a:lnTo>
                  <a:pt x="4193540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84656" y="4696980"/>
            <a:ext cx="144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C9D5DE"/>
                </a:solidFill>
                <a:latin typeface="Arial"/>
                <a:cs typeface="Arial"/>
              </a:rPr>
              <a:t>Key</a:t>
            </a:r>
            <a:r>
              <a:rPr dirty="0" sz="2100" spc="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C9D5DE"/>
                </a:solidFill>
                <a:latin typeface="Arial"/>
                <a:cs typeface="Arial"/>
              </a:rPr>
              <a:t>Factors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4656" y="5255780"/>
            <a:ext cx="1954530" cy="559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Drivers</a:t>
            </a:r>
            <a:r>
              <a:rPr dirty="0" sz="175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of</a:t>
            </a:r>
            <a:r>
              <a:rPr dirty="0" sz="175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C9D5DE"/>
                </a:solidFill>
                <a:latin typeface="Arial"/>
                <a:cs typeface="Arial"/>
              </a:rPr>
              <a:t>customer churn</a:t>
            </a:r>
            <a:endParaRPr sz="1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06110" y="2646756"/>
            <a:ext cx="17748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C9D5DE"/>
                </a:solidFill>
                <a:latin typeface="Arial"/>
                <a:cs typeface="Arial"/>
              </a:rPr>
              <a:t>Project </a:t>
            </a:r>
            <a:r>
              <a:rPr dirty="0" sz="2100" spc="-10">
                <a:solidFill>
                  <a:srgbClr val="C9D5DE"/>
                </a:solidFill>
                <a:latin typeface="Arial"/>
                <a:cs typeface="Arial"/>
              </a:rPr>
              <a:t>Outline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06110" y="3205683"/>
            <a:ext cx="1809114" cy="559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Steps</a:t>
            </a:r>
            <a:r>
              <a:rPr dirty="0" sz="175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taken</a:t>
            </a:r>
            <a:r>
              <a:rPr dirty="0" sz="175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in</a:t>
            </a:r>
            <a:r>
              <a:rPr dirty="0" sz="175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the </a:t>
            </a:r>
            <a:r>
              <a:rPr dirty="0" sz="1750" spc="-10">
                <a:solidFill>
                  <a:srgbClr val="C9D5DE"/>
                </a:solidFill>
                <a:latin typeface="Arial"/>
                <a:cs typeface="Arial"/>
              </a:rPr>
              <a:t>analysis</a:t>
            </a:r>
            <a:endParaRPr sz="1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06110" y="4283418"/>
            <a:ext cx="27305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05</a:t>
            </a:r>
            <a:endParaRPr sz="17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18429" y="4576826"/>
            <a:ext cx="4193540" cy="30480"/>
          </a:xfrm>
          <a:custGeom>
            <a:avLst/>
            <a:gdLst/>
            <a:ahLst/>
            <a:cxnLst/>
            <a:rect l="l" t="t" r="r" b="b"/>
            <a:pathLst>
              <a:path w="4193540" h="30479">
                <a:moveTo>
                  <a:pt x="4193539" y="0"/>
                </a:moveTo>
                <a:lnTo>
                  <a:pt x="0" y="0"/>
                </a:lnTo>
                <a:lnTo>
                  <a:pt x="0" y="30479"/>
                </a:lnTo>
                <a:lnTo>
                  <a:pt x="4193539" y="30479"/>
                </a:lnTo>
                <a:lnTo>
                  <a:pt x="4193539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206110" y="4696980"/>
            <a:ext cx="217487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C9D5DE"/>
                </a:solidFill>
                <a:latin typeface="Arial"/>
                <a:cs typeface="Arial"/>
              </a:rPr>
              <a:t>Patterns </a:t>
            </a:r>
            <a:r>
              <a:rPr dirty="0" sz="2100" spc="-10">
                <a:solidFill>
                  <a:srgbClr val="C9D5DE"/>
                </a:solidFill>
                <a:latin typeface="Arial"/>
                <a:cs typeface="Arial"/>
              </a:rPr>
              <a:t>Identified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06110" y="5255780"/>
            <a:ext cx="2326640" cy="559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C9D5DE"/>
                </a:solidFill>
                <a:latin typeface="Arial"/>
                <a:cs typeface="Arial"/>
              </a:rPr>
              <a:t>High-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risk</a:t>
            </a: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75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C9D5DE"/>
                </a:solidFill>
                <a:latin typeface="Arial"/>
                <a:cs typeface="Arial"/>
              </a:rPr>
              <a:t>protected segments</a:t>
            </a:r>
            <a:endParaRPr sz="17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27869" y="2646756"/>
            <a:ext cx="226314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C9D5DE"/>
                </a:solidFill>
                <a:latin typeface="Arial"/>
                <a:cs typeface="Arial"/>
              </a:rPr>
              <a:t>Model</a:t>
            </a:r>
            <a:r>
              <a:rPr dirty="0" sz="21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C9D5DE"/>
                </a:solidFill>
                <a:latin typeface="Arial"/>
                <a:cs typeface="Arial"/>
              </a:rPr>
              <a:t>Comparison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27869" y="3205683"/>
            <a:ext cx="2992755" cy="559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C9D5DE"/>
                </a:solidFill>
                <a:latin typeface="Arial"/>
                <a:cs typeface="Arial"/>
              </a:rPr>
              <a:t>Performance</a:t>
            </a:r>
            <a:r>
              <a:rPr dirty="0" sz="175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evaluation</a:t>
            </a:r>
            <a:r>
              <a:rPr dirty="0" sz="1750" spc="-4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of</a:t>
            </a: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 ML </a:t>
            </a:r>
            <a:r>
              <a:rPr dirty="0" sz="1750" spc="-10">
                <a:solidFill>
                  <a:srgbClr val="C9D5DE"/>
                </a:solidFill>
                <a:latin typeface="Arial"/>
                <a:cs typeface="Arial"/>
              </a:rPr>
              <a:t>models</a:t>
            </a:r>
            <a:endParaRPr sz="1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27869" y="4283418"/>
            <a:ext cx="27305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06</a:t>
            </a:r>
            <a:endParaRPr sz="17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39681" y="4576826"/>
            <a:ext cx="4194175" cy="30480"/>
          </a:xfrm>
          <a:custGeom>
            <a:avLst/>
            <a:gdLst/>
            <a:ahLst/>
            <a:cxnLst/>
            <a:rect l="l" t="t" r="r" b="b"/>
            <a:pathLst>
              <a:path w="4194175" h="30479">
                <a:moveTo>
                  <a:pt x="4193667" y="0"/>
                </a:moveTo>
                <a:lnTo>
                  <a:pt x="0" y="0"/>
                </a:lnTo>
                <a:lnTo>
                  <a:pt x="0" y="30479"/>
                </a:lnTo>
                <a:lnTo>
                  <a:pt x="4193667" y="30479"/>
                </a:lnTo>
                <a:lnTo>
                  <a:pt x="4193667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627869" y="4696980"/>
            <a:ext cx="33147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C9D5DE"/>
                </a:solidFill>
                <a:latin typeface="Arial"/>
                <a:cs typeface="Arial"/>
              </a:rPr>
              <a:t>Strategies</a:t>
            </a:r>
            <a:r>
              <a:rPr dirty="0" sz="21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C9D5DE"/>
                </a:solidFill>
                <a:latin typeface="Arial"/>
                <a:cs typeface="Arial"/>
              </a:rPr>
              <a:t>to</a:t>
            </a:r>
            <a:r>
              <a:rPr dirty="0" sz="21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C9D5DE"/>
                </a:solidFill>
                <a:latin typeface="Arial"/>
                <a:cs typeface="Arial"/>
              </a:rPr>
              <a:t>Reduce</a:t>
            </a:r>
            <a:r>
              <a:rPr dirty="0" sz="2100" spc="-10">
                <a:solidFill>
                  <a:srgbClr val="C9D5DE"/>
                </a:solidFill>
                <a:latin typeface="Arial"/>
                <a:cs typeface="Arial"/>
              </a:rPr>
              <a:t> Churn</a:t>
            </a:r>
            <a:endParaRPr sz="2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627869" y="5261622"/>
            <a:ext cx="258699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Actionable</a:t>
            </a:r>
            <a:r>
              <a:rPr dirty="0" sz="1750" spc="-7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retention</a:t>
            </a:r>
            <a:r>
              <a:rPr dirty="0" sz="1750" spc="-8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C9D5DE"/>
                </a:solidFill>
                <a:latin typeface="Arial"/>
                <a:cs typeface="Arial"/>
              </a:rPr>
              <a:t>plans</a:t>
            </a:r>
            <a:endParaRPr sz="17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7128" y="6423405"/>
            <a:ext cx="13036550" cy="30480"/>
          </a:xfrm>
          <a:custGeom>
            <a:avLst/>
            <a:gdLst/>
            <a:ahLst/>
            <a:cxnLst/>
            <a:rect l="l" t="t" r="r" b="b"/>
            <a:pathLst>
              <a:path w="13036550" h="30479">
                <a:moveTo>
                  <a:pt x="13036169" y="0"/>
                </a:moveTo>
                <a:lnTo>
                  <a:pt x="0" y="0"/>
                </a:lnTo>
                <a:lnTo>
                  <a:pt x="0" y="30480"/>
                </a:lnTo>
                <a:lnTo>
                  <a:pt x="13036169" y="30480"/>
                </a:lnTo>
                <a:lnTo>
                  <a:pt x="13036169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84656" y="6009417"/>
            <a:ext cx="2968625" cy="1623060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750" spc="-25">
                <a:solidFill>
                  <a:srgbClr val="C9D5DE"/>
                </a:solidFill>
                <a:latin typeface="Arial"/>
                <a:cs typeface="Arial"/>
              </a:rPr>
              <a:t>07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100" spc="-10">
                <a:solidFill>
                  <a:srgbClr val="C9D5DE"/>
                </a:solidFill>
                <a:latin typeface="Arial"/>
                <a:cs typeface="Arial"/>
              </a:rPr>
              <a:t>Conclusion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880"/>
              </a:spcBef>
            </a:pP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Summary</a:t>
            </a:r>
            <a:r>
              <a:rPr dirty="0" sz="175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of</a:t>
            </a:r>
            <a:r>
              <a:rPr dirty="0" sz="175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findings</a:t>
            </a:r>
            <a:r>
              <a:rPr dirty="0" sz="175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75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C9D5DE"/>
                </a:solidFill>
                <a:latin typeface="Arial"/>
                <a:cs typeface="Arial"/>
              </a:rPr>
              <a:t>next </a:t>
            </a:r>
            <a:r>
              <a:rPr dirty="0" sz="1750" spc="-10">
                <a:solidFill>
                  <a:srgbClr val="C9D5DE"/>
                </a:solidFill>
                <a:latin typeface="Arial"/>
                <a:cs typeface="Arial"/>
              </a:rPr>
              <a:t>steps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4176" y="520864"/>
            <a:ext cx="108648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/>
              <a:t>Section</a:t>
            </a:r>
            <a:r>
              <a:rPr dirty="0" sz="2000" spc="-30"/>
              <a:t> </a:t>
            </a:r>
            <a:r>
              <a:rPr dirty="0" sz="2000" spc="-50"/>
              <a:t>1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54176" y="996035"/>
            <a:ext cx="4578985" cy="644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50">
                <a:solidFill>
                  <a:srgbClr val="FFFFFF"/>
                </a:solidFill>
                <a:latin typeface="Arial"/>
                <a:cs typeface="Arial"/>
              </a:rPr>
              <a:t>Analytical</a:t>
            </a:r>
            <a:r>
              <a:rPr dirty="0" sz="40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Arial"/>
                <a:cs typeface="Arial"/>
              </a:rPr>
              <a:t>Summary</a:t>
            </a:r>
            <a:endParaRPr sz="4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4176" y="2218537"/>
            <a:ext cx="6774180" cy="16344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100"/>
              </a:lnSpc>
              <a:spcBef>
                <a:spcPts val="95"/>
              </a:spcBef>
            </a:pP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A</a:t>
            </a:r>
            <a:r>
              <a:rPr dirty="0" sz="17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robust</a:t>
            </a:r>
            <a:r>
              <a:rPr dirty="0" sz="1700" spc="-6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pipeline</a:t>
            </a:r>
            <a:r>
              <a:rPr dirty="0" sz="17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was</a:t>
            </a:r>
            <a:r>
              <a:rPr dirty="0" sz="17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built</a:t>
            </a:r>
            <a:r>
              <a:rPr dirty="0" sz="17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to</a:t>
            </a:r>
            <a:r>
              <a:rPr dirty="0" sz="1700" spc="-4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anticipate</a:t>
            </a:r>
            <a:r>
              <a:rPr dirty="0" sz="17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customer</a:t>
            </a:r>
            <a:r>
              <a:rPr dirty="0" sz="17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churn</a:t>
            </a:r>
            <a:r>
              <a:rPr dirty="0" sz="17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using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09978A"/>
                </a:solidFill>
                <a:latin typeface="Arial"/>
                <a:cs typeface="Arial"/>
              </a:rPr>
              <a:t>machine </a:t>
            </a:r>
            <a:r>
              <a:rPr dirty="0" sz="1700">
                <a:solidFill>
                  <a:srgbClr val="09978A"/>
                </a:solidFill>
                <a:latin typeface="Arial"/>
                <a:cs typeface="Arial"/>
              </a:rPr>
              <a:t>learning</a:t>
            </a:r>
            <a:r>
              <a:rPr dirty="0" sz="1700" spc="-65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09978A"/>
                </a:solidFill>
                <a:latin typeface="Arial"/>
                <a:cs typeface="Arial"/>
              </a:rPr>
              <a:t>techniques</a:t>
            </a:r>
            <a:r>
              <a:rPr dirty="0" sz="1700" spc="-40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700" spc="-7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explanatory</a:t>
            </a:r>
            <a:r>
              <a:rPr dirty="0" sz="1700" spc="-7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analytics.</a:t>
            </a:r>
            <a:endParaRPr sz="1700">
              <a:latin typeface="Arial"/>
              <a:cs typeface="Arial"/>
            </a:endParaRPr>
          </a:p>
          <a:p>
            <a:pPr marL="12700" marR="222250">
              <a:lnSpc>
                <a:spcPct val="137300"/>
              </a:lnSpc>
              <a:spcBef>
                <a:spcPts val="1480"/>
              </a:spcBef>
            </a:pP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The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09978A"/>
                </a:solidFill>
                <a:latin typeface="Arial"/>
                <a:cs typeface="Arial"/>
              </a:rPr>
              <a:t>XGBoost</a:t>
            </a:r>
            <a:r>
              <a:rPr dirty="0" sz="1700" spc="-20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09978A"/>
                </a:solidFill>
                <a:latin typeface="Arial"/>
                <a:cs typeface="Arial"/>
              </a:rPr>
              <a:t>model</a:t>
            </a:r>
            <a:r>
              <a:rPr dirty="0" sz="1700" spc="-40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performed</a:t>
            </a:r>
            <a:r>
              <a:rPr dirty="0" sz="17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best,</a:t>
            </a:r>
            <a:r>
              <a:rPr dirty="0" sz="1700" spc="-4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standing</a:t>
            </a:r>
            <a:r>
              <a:rPr dirty="0" sz="17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out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for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its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robustness,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balance,</a:t>
            </a:r>
            <a:r>
              <a:rPr dirty="0" sz="17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ability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to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correctly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identify</a:t>
            </a:r>
            <a:r>
              <a:rPr dirty="0" sz="17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the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positive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class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(churn).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5" name="object 5" descr="A diagram of a graph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4006100"/>
            <a:ext cx="4712842" cy="3768077"/>
          </a:xfrm>
          <a:prstGeom prst="rect">
            <a:avLst/>
          </a:prstGeom>
        </p:spPr>
      </p:pic>
      <p:pic>
        <p:nvPicPr>
          <p:cNvPr id="6" name="object 6" descr="A graph of different colored vertical bars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08061" y="3574427"/>
            <a:ext cx="6495542" cy="4199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36981"/>
            <a:ext cx="89916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dirty="0" sz="165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76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100"/>
              </a:spcBef>
            </a:pPr>
            <a:r>
              <a:rPr dirty="0" sz="3350"/>
              <a:t>Project</a:t>
            </a:r>
            <a:r>
              <a:rPr dirty="0" sz="3350" spc="10"/>
              <a:t> </a:t>
            </a:r>
            <a:r>
              <a:rPr dirty="0" sz="3350"/>
              <a:t>Outline: Our</a:t>
            </a:r>
            <a:r>
              <a:rPr dirty="0" sz="3350" spc="-10"/>
              <a:t> </a:t>
            </a:r>
            <a:r>
              <a:rPr dirty="0" sz="3350"/>
              <a:t>Methodical</a:t>
            </a:r>
            <a:r>
              <a:rPr dirty="0" sz="3350" spc="5"/>
              <a:t> </a:t>
            </a:r>
            <a:r>
              <a:rPr dirty="0" sz="3350" spc="-10"/>
              <a:t>Approach</a:t>
            </a:r>
            <a:endParaRPr sz="3350"/>
          </a:p>
        </p:txBody>
      </p:sp>
      <p:sp>
        <p:nvSpPr>
          <p:cNvPr id="4" name="object 4"/>
          <p:cNvSpPr txBox="1"/>
          <p:nvPr/>
        </p:nvSpPr>
        <p:spPr>
          <a:xfrm>
            <a:off x="627380" y="1764741"/>
            <a:ext cx="78695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Our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analysis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followed</a:t>
            </a:r>
            <a:r>
              <a:rPr dirty="0" sz="14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 comprehensive,</a:t>
            </a:r>
            <a:r>
              <a:rPr dirty="0" sz="14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multi-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stage</a:t>
            </a:r>
            <a:r>
              <a:rPr dirty="0" sz="14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process</a:t>
            </a:r>
            <a:r>
              <a:rPr dirty="0" sz="14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to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ensure</a:t>
            </a:r>
            <a:r>
              <a:rPr dirty="0" sz="14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accuracy and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interpretability: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83680" y="2265552"/>
            <a:ext cx="937260" cy="5461000"/>
            <a:chOff x="6583680" y="2265552"/>
            <a:chExt cx="937260" cy="5461000"/>
          </a:xfrm>
        </p:grpSpPr>
        <p:sp>
          <p:nvSpPr>
            <p:cNvPr id="6" name="object 6"/>
            <p:cNvSpPr/>
            <p:nvPr/>
          </p:nvSpPr>
          <p:spPr>
            <a:xfrm>
              <a:off x="6583680" y="2265552"/>
              <a:ext cx="742950" cy="5461000"/>
            </a:xfrm>
            <a:custGeom>
              <a:avLst/>
              <a:gdLst/>
              <a:ahLst/>
              <a:cxnLst/>
              <a:rect l="l" t="t" r="r" b="b"/>
              <a:pathLst>
                <a:path w="742950" h="5461000">
                  <a:moveTo>
                    <a:pt x="548640" y="199390"/>
                  </a:moveTo>
                  <a:lnTo>
                    <a:pt x="543560" y="194310"/>
                  </a:lnTo>
                  <a:lnTo>
                    <a:pt x="5080" y="194310"/>
                  </a:lnTo>
                  <a:lnTo>
                    <a:pt x="0" y="199390"/>
                  </a:lnTo>
                  <a:lnTo>
                    <a:pt x="0" y="205740"/>
                  </a:lnTo>
                  <a:lnTo>
                    <a:pt x="0" y="211963"/>
                  </a:lnTo>
                  <a:lnTo>
                    <a:pt x="5080" y="217170"/>
                  </a:lnTo>
                  <a:lnTo>
                    <a:pt x="543560" y="217170"/>
                  </a:lnTo>
                  <a:lnTo>
                    <a:pt x="548640" y="211963"/>
                  </a:lnTo>
                  <a:lnTo>
                    <a:pt x="548640" y="199390"/>
                  </a:lnTo>
                  <a:close/>
                </a:path>
                <a:path w="742950" h="5461000">
                  <a:moveTo>
                    <a:pt x="742950" y="5080"/>
                  </a:moveTo>
                  <a:lnTo>
                    <a:pt x="737870" y="0"/>
                  </a:lnTo>
                  <a:lnTo>
                    <a:pt x="725170" y="0"/>
                  </a:lnTo>
                  <a:lnTo>
                    <a:pt x="720090" y="5080"/>
                  </a:lnTo>
                  <a:lnTo>
                    <a:pt x="720090" y="11430"/>
                  </a:lnTo>
                  <a:lnTo>
                    <a:pt x="720090" y="5455539"/>
                  </a:lnTo>
                  <a:lnTo>
                    <a:pt x="725170" y="5460644"/>
                  </a:lnTo>
                  <a:lnTo>
                    <a:pt x="737870" y="5460644"/>
                  </a:lnTo>
                  <a:lnTo>
                    <a:pt x="742950" y="5455539"/>
                  </a:lnTo>
                  <a:lnTo>
                    <a:pt x="742950" y="5080"/>
                  </a:lnTo>
                  <a:close/>
                </a:path>
              </a:pathLst>
            </a:custGeom>
            <a:solidFill>
              <a:srgbClr val="485F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109460" y="226555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80">
                  <a:moveTo>
                    <a:pt x="384048" y="0"/>
                  </a:moveTo>
                  <a:lnTo>
                    <a:pt x="27432" y="0"/>
                  </a:lnTo>
                  <a:lnTo>
                    <a:pt x="16769" y="2143"/>
                  </a:lnTo>
                  <a:lnTo>
                    <a:pt x="8048" y="8001"/>
                  </a:lnTo>
                  <a:lnTo>
                    <a:pt x="2160" y="16716"/>
                  </a:lnTo>
                  <a:lnTo>
                    <a:pt x="0" y="27432"/>
                  </a:lnTo>
                  <a:lnTo>
                    <a:pt x="0" y="384048"/>
                  </a:lnTo>
                  <a:lnTo>
                    <a:pt x="2160" y="394710"/>
                  </a:lnTo>
                  <a:lnTo>
                    <a:pt x="8048" y="403431"/>
                  </a:lnTo>
                  <a:lnTo>
                    <a:pt x="16769" y="409319"/>
                  </a:lnTo>
                  <a:lnTo>
                    <a:pt x="27432" y="411480"/>
                  </a:lnTo>
                  <a:lnTo>
                    <a:pt x="384048" y="411480"/>
                  </a:lnTo>
                  <a:lnTo>
                    <a:pt x="394710" y="409319"/>
                  </a:lnTo>
                  <a:lnTo>
                    <a:pt x="403431" y="403431"/>
                  </a:lnTo>
                  <a:lnTo>
                    <a:pt x="409319" y="394710"/>
                  </a:lnTo>
                  <a:lnTo>
                    <a:pt x="411480" y="384048"/>
                  </a:lnTo>
                  <a:lnTo>
                    <a:pt x="411480" y="27432"/>
                  </a:lnTo>
                  <a:lnTo>
                    <a:pt x="409319" y="16716"/>
                  </a:lnTo>
                  <a:lnTo>
                    <a:pt x="403431" y="8001"/>
                  </a:lnTo>
                  <a:lnTo>
                    <a:pt x="394710" y="2143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243318" y="2228824"/>
            <a:ext cx="1670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solidFill>
                  <a:srgbClr val="C9D5DE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161" y="2262352"/>
            <a:ext cx="377761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Exploratory</a:t>
            </a:r>
            <a:r>
              <a:rPr dirty="0" sz="165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Analysis</a:t>
            </a:r>
            <a:r>
              <a:rPr dirty="0" sz="165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&amp;</a:t>
            </a:r>
            <a:r>
              <a:rPr dirty="0" sz="165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Data </a:t>
            </a:r>
            <a:r>
              <a:rPr dirty="0" sz="1650" spc="-10">
                <a:solidFill>
                  <a:srgbClr val="C9D5DE"/>
                </a:solidFill>
                <a:latin typeface="Arial"/>
                <a:cs typeface="Arial"/>
              </a:rPr>
              <a:t>Preparation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0750" y="2704668"/>
            <a:ext cx="31280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Initial</a:t>
            </a:r>
            <a:r>
              <a:rPr dirty="0" sz="14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data</a:t>
            </a:r>
            <a:r>
              <a:rPr dirty="0" sz="14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understanding</a:t>
            </a:r>
            <a:r>
              <a:rPr dirty="0" sz="14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4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cleaning.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09459" y="3362833"/>
            <a:ext cx="937260" cy="411480"/>
            <a:chOff x="7109459" y="3362833"/>
            <a:chExt cx="937260" cy="411480"/>
          </a:xfrm>
        </p:grpSpPr>
        <p:sp>
          <p:nvSpPr>
            <p:cNvPr id="12" name="object 12"/>
            <p:cNvSpPr/>
            <p:nvPr/>
          </p:nvSpPr>
          <p:spPr>
            <a:xfrm>
              <a:off x="7498079" y="3557143"/>
              <a:ext cx="548640" cy="22860"/>
            </a:xfrm>
            <a:custGeom>
              <a:avLst/>
              <a:gdLst/>
              <a:ahLst/>
              <a:cxnLst/>
              <a:rect l="l" t="t" r="r" b="b"/>
              <a:pathLst>
                <a:path w="548640" h="22860">
                  <a:moveTo>
                    <a:pt x="543560" y="0"/>
                  </a:moveTo>
                  <a:lnTo>
                    <a:pt x="5080" y="0"/>
                  </a:lnTo>
                  <a:lnTo>
                    <a:pt x="0" y="5079"/>
                  </a:lnTo>
                  <a:lnTo>
                    <a:pt x="0" y="11429"/>
                  </a:lnTo>
                  <a:lnTo>
                    <a:pt x="0" y="17652"/>
                  </a:lnTo>
                  <a:lnTo>
                    <a:pt x="5080" y="22859"/>
                  </a:lnTo>
                  <a:lnTo>
                    <a:pt x="543560" y="22859"/>
                  </a:lnTo>
                  <a:lnTo>
                    <a:pt x="548640" y="17652"/>
                  </a:lnTo>
                  <a:lnTo>
                    <a:pt x="548640" y="5079"/>
                  </a:lnTo>
                  <a:lnTo>
                    <a:pt x="543560" y="0"/>
                  </a:lnTo>
                  <a:close/>
                </a:path>
              </a:pathLst>
            </a:custGeom>
            <a:solidFill>
              <a:srgbClr val="485F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109459" y="3362833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384048" y="0"/>
                  </a:moveTo>
                  <a:lnTo>
                    <a:pt x="27432" y="0"/>
                  </a:lnTo>
                  <a:lnTo>
                    <a:pt x="16769" y="2143"/>
                  </a:lnTo>
                  <a:lnTo>
                    <a:pt x="8048" y="8001"/>
                  </a:lnTo>
                  <a:lnTo>
                    <a:pt x="2160" y="16716"/>
                  </a:lnTo>
                  <a:lnTo>
                    <a:pt x="0" y="27432"/>
                  </a:lnTo>
                  <a:lnTo>
                    <a:pt x="0" y="384048"/>
                  </a:lnTo>
                  <a:lnTo>
                    <a:pt x="2160" y="394710"/>
                  </a:lnTo>
                  <a:lnTo>
                    <a:pt x="8048" y="403431"/>
                  </a:lnTo>
                  <a:lnTo>
                    <a:pt x="16769" y="409319"/>
                  </a:lnTo>
                  <a:lnTo>
                    <a:pt x="27432" y="411480"/>
                  </a:lnTo>
                  <a:lnTo>
                    <a:pt x="384048" y="411480"/>
                  </a:lnTo>
                  <a:lnTo>
                    <a:pt x="394710" y="409319"/>
                  </a:lnTo>
                  <a:lnTo>
                    <a:pt x="403431" y="403431"/>
                  </a:lnTo>
                  <a:lnTo>
                    <a:pt x="409319" y="394710"/>
                  </a:lnTo>
                  <a:lnTo>
                    <a:pt x="411480" y="384048"/>
                  </a:lnTo>
                  <a:lnTo>
                    <a:pt x="411480" y="27432"/>
                  </a:lnTo>
                  <a:lnTo>
                    <a:pt x="409319" y="16716"/>
                  </a:lnTo>
                  <a:lnTo>
                    <a:pt x="403431" y="8001"/>
                  </a:lnTo>
                  <a:lnTo>
                    <a:pt x="394710" y="2143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201916" y="3340646"/>
            <a:ext cx="1670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solidFill>
                  <a:srgbClr val="C9D5DE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17789" y="3359632"/>
            <a:ext cx="306451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Correlation</a:t>
            </a:r>
            <a:r>
              <a:rPr dirty="0" sz="1650" spc="-5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Analysis</a:t>
            </a:r>
            <a:r>
              <a:rPr dirty="0" sz="1650" spc="-6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&amp;</a:t>
            </a:r>
            <a:r>
              <a:rPr dirty="0" sz="165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C9D5DE"/>
                </a:solidFill>
                <a:latin typeface="Arial"/>
                <a:cs typeface="Arial"/>
              </a:rPr>
              <a:t>Balancing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17789" y="3801948"/>
            <a:ext cx="355219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Identifying</a:t>
            </a:r>
            <a:r>
              <a:rPr dirty="0" sz="14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relationships</a:t>
            </a:r>
            <a:r>
              <a:rPr dirty="0" sz="14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4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addressing</a:t>
            </a:r>
            <a:r>
              <a:rPr dirty="0" sz="14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C9D5DE"/>
                </a:solidFill>
                <a:latin typeface="Arial"/>
                <a:cs typeface="Arial"/>
              </a:rPr>
              <a:t>data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imbalance.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583680" y="4308602"/>
            <a:ext cx="937260" cy="411480"/>
            <a:chOff x="6583680" y="4308602"/>
            <a:chExt cx="937260" cy="411480"/>
          </a:xfrm>
        </p:grpSpPr>
        <p:sp>
          <p:nvSpPr>
            <p:cNvPr id="18" name="object 18"/>
            <p:cNvSpPr/>
            <p:nvPr/>
          </p:nvSpPr>
          <p:spPr>
            <a:xfrm>
              <a:off x="6583680" y="4502912"/>
              <a:ext cx="548640" cy="22860"/>
            </a:xfrm>
            <a:custGeom>
              <a:avLst/>
              <a:gdLst/>
              <a:ahLst/>
              <a:cxnLst/>
              <a:rect l="l" t="t" r="r" b="b"/>
              <a:pathLst>
                <a:path w="548640" h="22860">
                  <a:moveTo>
                    <a:pt x="543560" y="0"/>
                  </a:moveTo>
                  <a:lnTo>
                    <a:pt x="5080" y="0"/>
                  </a:lnTo>
                  <a:lnTo>
                    <a:pt x="0" y="5206"/>
                  </a:lnTo>
                  <a:lnTo>
                    <a:pt x="0" y="11429"/>
                  </a:lnTo>
                  <a:lnTo>
                    <a:pt x="0" y="17779"/>
                  </a:lnTo>
                  <a:lnTo>
                    <a:pt x="5080" y="22859"/>
                  </a:lnTo>
                  <a:lnTo>
                    <a:pt x="543560" y="22859"/>
                  </a:lnTo>
                  <a:lnTo>
                    <a:pt x="548640" y="17779"/>
                  </a:lnTo>
                  <a:lnTo>
                    <a:pt x="548640" y="5206"/>
                  </a:lnTo>
                  <a:lnTo>
                    <a:pt x="543560" y="0"/>
                  </a:lnTo>
                  <a:close/>
                </a:path>
              </a:pathLst>
            </a:custGeom>
            <a:solidFill>
              <a:srgbClr val="485F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109460" y="430860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384048" y="0"/>
                  </a:moveTo>
                  <a:lnTo>
                    <a:pt x="27432" y="0"/>
                  </a:lnTo>
                  <a:lnTo>
                    <a:pt x="16769" y="2160"/>
                  </a:lnTo>
                  <a:lnTo>
                    <a:pt x="8048" y="8048"/>
                  </a:lnTo>
                  <a:lnTo>
                    <a:pt x="2160" y="16769"/>
                  </a:lnTo>
                  <a:lnTo>
                    <a:pt x="0" y="27432"/>
                  </a:lnTo>
                  <a:lnTo>
                    <a:pt x="0" y="384048"/>
                  </a:lnTo>
                  <a:lnTo>
                    <a:pt x="2160" y="394763"/>
                  </a:lnTo>
                  <a:lnTo>
                    <a:pt x="8048" y="403479"/>
                  </a:lnTo>
                  <a:lnTo>
                    <a:pt x="16769" y="409336"/>
                  </a:lnTo>
                  <a:lnTo>
                    <a:pt x="27432" y="411480"/>
                  </a:lnTo>
                  <a:lnTo>
                    <a:pt x="384048" y="411480"/>
                  </a:lnTo>
                  <a:lnTo>
                    <a:pt x="394710" y="409336"/>
                  </a:lnTo>
                  <a:lnTo>
                    <a:pt x="403431" y="403479"/>
                  </a:lnTo>
                  <a:lnTo>
                    <a:pt x="409319" y="394763"/>
                  </a:lnTo>
                  <a:lnTo>
                    <a:pt x="411480" y="384048"/>
                  </a:lnTo>
                  <a:lnTo>
                    <a:pt x="411480" y="27432"/>
                  </a:lnTo>
                  <a:lnTo>
                    <a:pt x="409319" y="16769"/>
                  </a:lnTo>
                  <a:lnTo>
                    <a:pt x="403431" y="8048"/>
                  </a:lnTo>
                  <a:lnTo>
                    <a:pt x="394710" y="2160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200645" y="4300461"/>
            <a:ext cx="1676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solidFill>
                  <a:srgbClr val="C9D5DE"/>
                </a:solidFill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14525" y="4305782"/>
            <a:ext cx="33559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>
                <a:solidFill>
                  <a:srgbClr val="C9D5DE"/>
                </a:solidFill>
                <a:latin typeface="Arial"/>
                <a:cs typeface="Arial"/>
              </a:rPr>
              <a:t>Multi-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Model</a:t>
            </a:r>
            <a:r>
              <a:rPr dirty="0" sz="165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Training</a:t>
            </a:r>
            <a:r>
              <a:rPr dirty="0" sz="165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&amp;</a:t>
            </a:r>
            <a:r>
              <a:rPr dirty="0" sz="165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C9D5DE"/>
                </a:solidFill>
                <a:latin typeface="Arial"/>
                <a:cs typeface="Arial"/>
              </a:rPr>
              <a:t>Optimization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5476" y="4670983"/>
            <a:ext cx="5367655" cy="60769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710"/>
              </a:spcBef>
            </a:pP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KNN,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LG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RF,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RL,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XGB,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Ensemble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models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with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hyperparameter</a:t>
            </a:r>
            <a:endParaRPr sz="14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610"/>
              </a:spcBef>
            </a:pP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tuning</a:t>
            </a:r>
            <a:r>
              <a:rPr dirty="0" sz="14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(GridSearchCV).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09459" y="5254497"/>
            <a:ext cx="937260" cy="411480"/>
            <a:chOff x="7109459" y="5254497"/>
            <a:chExt cx="937260" cy="411480"/>
          </a:xfrm>
        </p:grpSpPr>
        <p:sp>
          <p:nvSpPr>
            <p:cNvPr id="24" name="object 24"/>
            <p:cNvSpPr/>
            <p:nvPr/>
          </p:nvSpPr>
          <p:spPr>
            <a:xfrm>
              <a:off x="7498079" y="5448807"/>
              <a:ext cx="548640" cy="22860"/>
            </a:xfrm>
            <a:custGeom>
              <a:avLst/>
              <a:gdLst/>
              <a:ahLst/>
              <a:cxnLst/>
              <a:rect l="l" t="t" r="r" b="b"/>
              <a:pathLst>
                <a:path w="548640" h="22860">
                  <a:moveTo>
                    <a:pt x="543560" y="0"/>
                  </a:moveTo>
                  <a:lnTo>
                    <a:pt x="5080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7653"/>
                  </a:lnTo>
                  <a:lnTo>
                    <a:pt x="5080" y="22860"/>
                  </a:lnTo>
                  <a:lnTo>
                    <a:pt x="543560" y="22860"/>
                  </a:lnTo>
                  <a:lnTo>
                    <a:pt x="548640" y="17653"/>
                  </a:lnTo>
                  <a:lnTo>
                    <a:pt x="548640" y="5080"/>
                  </a:lnTo>
                  <a:lnTo>
                    <a:pt x="543560" y="0"/>
                  </a:lnTo>
                  <a:close/>
                </a:path>
              </a:pathLst>
            </a:custGeom>
            <a:solidFill>
              <a:srgbClr val="485F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109459" y="5254497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384048" y="0"/>
                  </a:moveTo>
                  <a:lnTo>
                    <a:pt x="27432" y="0"/>
                  </a:lnTo>
                  <a:lnTo>
                    <a:pt x="16769" y="2143"/>
                  </a:lnTo>
                  <a:lnTo>
                    <a:pt x="8048" y="8000"/>
                  </a:lnTo>
                  <a:lnTo>
                    <a:pt x="2160" y="16716"/>
                  </a:lnTo>
                  <a:lnTo>
                    <a:pt x="0" y="27431"/>
                  </a:lnTo>
                  <a:lnTo>
                    <a:pt x="0" y="384047"/>
                  </a:lnTo>
                  <a:lnTo>
                    <a:pt x="2160" y="394710"/>
                  </a:lnTo>
                  <a:lnTo>
                    <a:pt x="8048" y="403431"/>
                  </a:lnTo>
                  <a:lnTo>
                    <a:pt x="16769" y="409319"/>
                  </a:lnTo>
                  <a:lnTo>
                    <a:pt x="27432" y="411479"/>
                  </a:lnTo>
                  <a:lnTo>
                    <a:pt x="384048" y="411479"/>
                  </a:lnTo>
                  <a:lnTo>
                    <a:pt x="394710" y="409319"/>
                  </a:lnTo>
                  <a:lnTo>
                    <a:pt x="403431" y="403431"/>
                  </a:lnTo>
                  <a:lnTo>
                    <a:pt x="409319" y="394710"/>
                  </a:lnTo>
                  <a:lnTo>
                    <a:pt x="411480" y="384047"/>
                  </a:lnTo>
                  <a:lnTo>
                    <a:pt x="411480" y="27431"/>
                  </a:lnTo>
                  <a:lnTo>
                    <a:pt x="409319" y="16716"/>
                  </a:lnTo>
                  <a:lnTo>
                    <a:pt x="403431" y="8000"/>
                  </a:lnTo>
                  <a:lnTo>
                    <a:pt x="394710" y="2143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7200392" y="5261140"/>
            <a:ext cx="167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C9D5DE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17789" y="5251932"/>
            <a:ext cx="327914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Model</a:t>
            </a:r>
            <a:r>
              <a:rPr dirty="0" sz="1650" spc="-4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Comparison</a:t>
            </a:r>
            <a:r>
              <a:rPr dirty="0" sz="1650" spc="-5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&amp;</a:t>
            </a:r>
            <a:r>
              <a:rPr dirty="0" sz="165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C9D5DE"/>
                </a:solidFill>
                <a:latin typeface="Arial"/>
                <a:cs typeface="Arial"/>
              </a:rPr>
              <a:t>Interpretation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17789" y="5617006"/>
            <a:ext cx="5095240" cy="60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100"/>
              </a:spcBef>
            </a:pP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Evaluating</a:t>
            </a:r>
            <a:r>
              <a:rPr dirty="0" sz="14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performance</a:t>
            </a:r>
            <a:r>
              <a:rPr dirty="0" sz="1400" spc="-6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4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understanding</a:t>
            </a:r>
            <a:r>
              <a:rPr dirty="0" sz="14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feature</a:t>
            </a:r>
            <a:r>
              <a:rPr dirty="0" sz="1400" spc="-5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contributions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(SHAP</a:t>
            </a:r>
            <a:r>
              <a:rPr dirty="0" sz="14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&amp;</a:t>
            </a:r>
            <a:r>
              <a:rPr dirty="0" sz="14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Feature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Importance).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583680" y="6200266"/>
            <a:ext cx="937260" cy="411480"/>
            <a:chOff x="6583680" y="6200266"/>
            <a:chExt cx="937260" cy="411480"/>
          </a:xfrm>
        </p:grpSpPr>
        <p:sp>
          <p:nvSpPr>
            <p:cNvPr id="30" name="object 30"/>
            <p:cNvSpPr/>
            <p:nvPr/>
          </p:nvSpPr>
          <p:spPr>
            <a:xfrm>
              <a:off x="6583680" y="6394576"/>
              <a:ext cx="548640" cy="22860"/>
            </a:xfrm>
            <a:custGeom>
              <a:avLst/>
              <a:gdLst/>
              <a:ahLst/>
              <a:cxnLst/>
              <a:rect l="l" t="t" r="r" b="b"/>
              <a:pathLst>
                <a:path w="548640" h="22860">
                  <a:moveTo>
                    <a:pt x="543560" y="0"/>
                  </a:moveTo>
                  <a:lnTo>
                    <a:pt x="5080" y="0"/>
                  </a:lnTo>
                  <a:lnTo>
                    <a:pt x="0" y="5207"/>
                  </a:lnTo>
                  <a:lnTo>
                    <a:pt x="0" y="11430"/>
                  </a:lnTo>
                  <a:lnTo>
                    <a:pt x="0" y="17780"/>
                  </a:lnTo>
                  <a:lnTo>
                    <a:pt x="5080" y="22860"/>
                  </a:lnTo>
                  <a:lnTo>
                    <a:pt x="543560" y="22860"/>
                  </a:lnTo>
                  <a:lnTo>
                    <a:pt x="548640" y="17780"/>
                  </a:lnTo>
                  <a:lnTo>
                    <a:pt x="548640" y="5207"/>
                  </a:lnTo>
                  <a:lnTo>
                    <a:pt x="543560" y="0"/>
                  </a:lnTo>
                  <a:close/>
                </a:path>
              </a:pathLst>
            </a:custGeom>
            <a:solidFill>
              <a:srgbClr val="485F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109460" y="6200266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384048" y="0"/>
                  </a:moveTo>
                  <a:lnTo>
                    <a:pt x="27432" y="0"/>
                  </a:lnTo>
                  <a:lnTo>
                    <a:pt x="16769" y="2160"/>
                  </a:lnTo>
                  <a:lnTo>
                    <a:pt x="8048" y="8048"/>
                  </a:lnTo>
                  <a:lnTo>
                    <a:pt x="2160" y="16769"/>
                  </a:lnTo>
                  <a:lnTo>
                    <a:pt x="0" y="27431"/>
                  </a:lnTo>
                  <a:lnTo>
                    <a:pt x="0" y="384047"/>
                  </a:lnTo>
                  <a:lnTo>
                    <a:pt x="2160" y="394763"/>
                  </a:lnTo>
                  <a:lnTo>
                    <a:pt x="8048" y="403478"/>
                  </a:lnTo>
                  <a:lnTo>
                    <a:pt x="16769" y="409336"/>
                  </a:lnTo>
                  <a:lnTo>
                    <a:pt x="27432" y="411479"/>
                  </a:lnTo>
                  <a:lnTo>
                    <a:pt x="384048" y="411479"/>
                  </a:lnTo>
                  <a:lnTo>
                    <a:pt x="394710" y="409336"/>
                  </a:lnTo>
                  <a:lnTo>
                    <a:pt x="403431" y="403478"/>
                  </a:lnTo>
                  <a:lnTo>
                    <a:pt x="409319" y="394763"/>
                  </a:lnTo>
                  <a:lnTo>
                    <a:pt x="411480" y="384047"/>
                  </a:lnTo>
                  <a:lnTo>
                    <a:pt x="411480" y="27431"/>
                  </a:lnTo>
                  <a:lnTo>
                    <a:pt x="409319" y="16769"/>
                  </a:lnTo>
                  <a:lnTo>
                    <a:pt x="403431" y="8048"/>
                  </a:lnTo>
                  <a:lnTo>
                    <a:pt x="394710" y="2160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204964" y="6221577"/>
            <a:ext cx="167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C9D5DE"/>
                </a:solidFill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45890" y="6197701"/>
            <a:ext cx="221170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Final</a:t>
            </a:r>
            <a:r>
              <a:rPr dirty="0" sz="165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Report</a:t>
            </a:r>
            <a:r>
              <a:rPr dirty="0" sz="165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C9D5DE"/>
                </a:solidFill>
                <a:latin typeface="Arial"/>
                <a:cs typeface="Arial"/>
              </a:rPr>
              <a:t>&amp;</a:t>
            </a:r>
            <a:r>
              <a:rPr dirty="0" sz="165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C9D5DE"/>
                </a:solidFill>
                <a:latin typeface="Arial"/>
                <a:cs typeface="Arial"/>
              </a:rPr>
              <a:t>Strategy</a:t>
            </a:r>
            <a:endParaRPr sz="1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34870" y="6639661"/>
            <a:ext cx="44837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Consolidating</a:t>
            </a:r>
            <a:r>
              <a:rPr dirty="0" sz="14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insights</a:t>
            </a:r>
            <a:r>
              <a:rPr dirty="0" sz="14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into</a:t>
            </a:r>
            <a:r>
              <a:rPr dirty="0" sz="14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actionable</a:t>
            </a:r>
            <a:r>
              <a:rPr dirty="0" sz="14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recommendations.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421" y="1039393"/>
            <a:ext cx="954405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dirty="0" sz="17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7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5421" y="1452130"/>
            <a:ext cx="8106409" cy="559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/>
              <a:t>Model</a:t>
            </a:r>
            <a:r>
              <a:rPr dirty="0" sz="3500" spc="-25"/>
              <a:t> </a:t>
            </a:r>
            <a:r>
              <a:rPr dirty="0" sz="3500"/>
              <a:t>Comparison:</a:t>
            </a:r>
            <a:r>
              <a:rPr dirty="0" sz="3500" spc="-70"/>
              <a:t> </a:t>
            </a:r>
            <a:r>
              <a:rPr dirty="0" sz="3500"/>
              <a:t>Performance</a:t>
            </a:r>
            <a:r>
              <a:rPr dirty="0" sz="3500" spc="-25"/>
              <a:t> </a:t>
            </a:r>
            <a:r>
              <a:rPr dirty="0" sz="3500" spc="-10"/>
              <a:t>Metrics</a:t>
            </a:r>
            <a:endParaRPr sz="3500"/>
          </a:p>
        </p:txBody>
      </p:sp>
      <p:sp>
        <p:nvSpPr>
          <p:cNvPr id="4" name="object 4"/>
          <p:cNvSpPr txBox="1"/>
          <p:nvPr/>
        </p:nvSpPr>
        <p:spPr>
          <a:xfrm>
            <a:off x="655421" y="2422118"/>
            <a:ext cx="89814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C9D5DE"/>
                </a:solidFill>
                <a:latin typeface="Arial"/>
                <a:cs typeface="Arial"/>
              </a:rPr>
              <a:t>After</a:t>
            </a:r>
            <a:r>
              <a:rPr dirty="0" sz="15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C9D5DE"/>
                </a:solidFill>
                <a:latin typeface="Arial"/>
                <a:cs typeface="Arial"/>
              </a:rPr>
              <a:t>rigorous</a:t>
            </a:r>
            <a:r>
              <a:rPr dirty="0" sz="1500" spc="-5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C9D5DE"/>
                </a:solidFill>
                <a:latin typeface="Arial"/>
                <a:cs typeface="Arial"/>
              </a:rPr>
              <a:t>evaluation,</a:t>
            </a:r>
            <a:r>
              <a:rPr dirty="0" sz="1500" spc="-6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C9D5DE"/>
                </a:solidFill>
                <a:latin typeface="Arial"/>
                <a:cs typeface="Arial"/>
              </a:rPr>
              <a:t>the</a:t>
            </a:r>
            <a:r>
              <a:rPr dirty="0" sz="15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09978A"/>
                </a:solidFill>
                <a:latin typeface="Arial"/>
                <a:cs typeface="Arial"/>
              </a:rPr>
              <a:t>XGBoost</a:t>
            </a:r>
            <a:r>
              <a:rPr dirty="0" sz="1500" spc="-30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09978A"/>
                </a:solidFill>
                <a:latin typeface="Arial"/>
                <a:cs typeface="Arial"/>
              </a:rPr>
              <a:t>model</a:t>
            </a:r>
            <a:r>
              <a:rPr dirty="0" sz="1500" spc="-40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C9D5DE"/>
                </a:solidFill>
                <a:latin typeface="Arial"/>
                <a:cs typeface="Arial"/>
              </a:rPr>
              <a:t>demonstrated</a:t>
            </a:r>
            <a:r>
              <a:rPr dirty="0" sz="15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C9D5DE"/>
                </a:solidFill>
                <a:latin typeface="Arial"/>
                <a:cs typeface="Arial"/>
              </a:rPr>
              <a:t>superior</a:t>
            </a:r>
            <a:r>
              <a:rPr dirty="0" sz="1500" spc="-5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C9D5DE"/>
                </a:solidFill>
                <a:latin typeface="Arial"/>
                <a:cs typeface="Arial"/>
              </a:rPr>
              <a:t>overall</a:t>
            </a:r>
            <a:r>
              <a:rPr dirty="0" sz="1500" spc="-6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C9D5DE"/>
                </a:solidFill>
                <a:latin typeface="Arial"/>
                <a:cs typeface="Arial"/>
              </a:rPr>
              <a:t>balance</a:t>
            </a:r>
            <a:r>
              <a:rPr dirty="0" sz="15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5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C9D5DE"/>
                </a:solidFill>
                <a:latin typeface="Arial"/>
                <a:cs typeface="Arial"/>
              </a:rPr>
              <a:t>predictive</a:t>
            </a:r>
            <a:r>
              <a:rPr dirty="0" sz="1500" spc="-7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C9D5DE"/>
                </a:solidFill>
                <a:latin typeface="Arial"/>
                <a:cs typeface="Arial"/>
              </a:rPr>
              <a:t>power.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5805" y="3507232"/>
            <a:ext cx="13279119" cy="855344"/>
          </a:xfrm>
          <a:custGeom>
            <a:avLst/>
            <a:gdLst/>
            <a:ahLst/>
            <a:cxnLst/>
            <a:rect l="l" t="t" r="r" b="b"/>
            <a:pathLst>
              <a:path w="13279119" h="855345">
                <a:moveTo>
                  <a:pt x="13278739" y="0"/>
                </a:moveTo>
                <a:lnTo>
                  <a:pt x="0" y="0"/>
                </a:lnTo>
                <a:lnTo>
                  <a:pt x="0" y="855345"/>
                </a:lnTo>
                <a:lnTo>
                  <a:pt x="13278739" y="855345"/>
                </a:lnTo>
                <a:lnTo>
                  <a:pt x="13278739" y="0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5805" y="4912436"/>
            <a:ext cx="13279119" cy="549910"/>
          </a:xfrm>
          <a:custGeom>
            <a:avLst/>
            <a:gdLst/>
            <a:ahLst/>
            <a:cxnLst/>
            <a:rect l="l" t="t" r="r" b="b"/>
            <a:pathLst>
              <a:path w="13279119" h="549910">
                <a:moveTo>
                  <a:pt x="13278739" y="0"/>
                </a:moveTo>
                <a:lnTo>
                  <a:pt x="0" y="0"/>
                </a:lnTo>
                <a:lnTo>
                  <a:pt x="0" y="549833"/>
                </a:lnTo>
                <a:lnTo>
                  <a:pt x="13278739" y="549833"/>
                </a:lnTo>
                <a:lnTo>
                  <a:pt x="13278739" y="0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5805" y="6012002"/>
            <a:ext cx="13279119" cy="549910"/>
          </a:xfrm>
          <a:custGeom>
            <a:avLst/>
            <a:gdLst/>
            <a:ahLst/>
            <a:cxnLst/>
            <a:rect l="l" t="t" r="r" b="b"/>
            <a:pathLst>
              <a:path w="13279119" h="549909">
                <a:moveTo>
                  <a:pt x="13278739" y="0"/>
                </a:moveTo>
                <a:lnTo>
                  <a:pt x="0" y="0"/>
                </a:lnTo>
                <a:lnTo>
                  <a:pt x="0" y="549833"/>
                </a:lnTo>
                <a:lnTo>
                  <a:pt x="13278739" y="549833"/>
                </a:lnTo>
                <a:lnTo>
                  <a:pt x="13278739" y="0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63248" y="2943729"/>
          <a:ext cx="13380719" cy="416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045"/>
                <a:gridCol w="1273809"/>
                <a:gridCol w="1327785"/>
                <a:gridCol w="1179830"/>
                <a:gridCol w="1449704"/>
                <a:gridCol w="1370329"/>
                <a:gridCol w="4681855"/>
              </a:tblGrid>
              <a:tr h="556895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500" spc="-1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3462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500" spc="-1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3462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500" spc="-1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Precision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3462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500" spc="-1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Recall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3462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50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F1</a:t>
                      </a:r>
                      <a:r>
                        <a:rPr dirty="0" sz="1500" spc="-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Score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3462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50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ROC</a:t>
                      </a:r>
                      <a:r>
                        <a:rPr dirty="0" sz="1500" spc="-4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2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AUC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3462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500" spc="-1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Observations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3462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854710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XGBoost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0.783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0.575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0.701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0.631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0.845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0" marR="438150">
                        <a:lnSpc>
                          <a:spcPct val="133300"/>
                        </a:lnSpc>
                        <a:spcBef>
                          <a:spcPts val="405"/>
                        </a:spcBef>
                      </a:pP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Good</a:t>
                      </a:r>
                      <a:r>
                        <a:rPr dirty="0" sz="1500" spc="-5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overall</a:t>
                      </a:r>
                      <a:r>
                        <a:rPr dirty="0" sz="1500" spc="-5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balance,</a:t>
                      </a:r>
                      <a:r>
                        <a:rPr dirty="0" sz="1500" spc="-5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excellent</a:t>
                      </a:r>
                      <a:r>
                        <a:rPr dirty="0" sz="1500" spc="-5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ROC</a:t>
                      </a:r>
                      <a:r>
                        <a:rPr dirty="0" sz="1500" spc="-5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AUC,</a:t>
                      </a:r>
                      <a:r>
                        <a:rPr dirty="0" sz="1500" spc="-5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500" spc="-4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recall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LightGBM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0.774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0.560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0.703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0.623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0.843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Very</a:t>
                      </a:r>
                      <a:r>
                        <a:rPr dirty="0" sz="1500" spc="-3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similar</a:t>
                      </a:r>
                      <a:r>
                        <a:rPr dirty="0" sz="1500" spc="-3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500" spc="-3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XGBoost,</a:t>
                      </a:r>
                      <a:r>
                        <a:rPr dirty="0" sz="1500" spc="-3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good</a:t>
                      </a:r>
                      <a:r>
                        <a:rPr dirty="0" sz="1500" spc="-3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recall</a:t>
                      </a:r>
                      <a:r>
                        <a:rPr dirty="0" sz="1500" spc="-3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500" spc="-3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precision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RandomForest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0.776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0.560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0.722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0.631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0.841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500" spc="-5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recall,</a:t>
                      </a:r>
                      <a:r>
                        <a:rPr dirty="0" sz="1500" spc="-5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good</a:t>
                      </a:r>
                      <a:r>
                        <a:rPr dirty="0" sz="1500" spc="-5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overall</a:t>
                      </a:r>
                      <a:r>
                        <a:rPr dirty="0" sz="1500" spc="-5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balance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LogisticRegression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0.744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0.511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0.786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0.620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0.843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Better</a:t>
                      </a:r>
                      <a:r>
                        <a:rPr dirty="0" sz="1500" spc="-4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recall</a:t>
                      </a:r>
                      <a:r>
                        <a:rPr dirty="0" sz="1500" spc="-4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(sensitivity),</a:t>
                      </a:r>
                      <a:r>
                        <a:rPr dirty="0" sz="1500" spc="-4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lower</a:t>
                      </a:r>
                      <a:r>
                        <a:rPr dirty="0" sz="1500" spc="-4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precision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Stacking</a:t>
                      </a:r>
                      <a:r>
                        <a:rPr dirty="0" sz="1500" spc="-9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Ensemble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0.779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0.578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0.623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0.600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0.834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Better</a:t>
                      </a:r>
                      <a:r>
                        <a:rPr dirty="0" sz="1500" spc="-4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precision,</a:t>
                      </a:r>
                      <a:r>
                        <a:rPr dirty="0" sz="1500" spc="-4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slightly</a:t>
                      </a:r>
                      <a:r>
                        <a:rPr dirty="0" sz="1500" spc="-4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lower</a:t>
                      </a:r>
                      <a:r>
                        <a:rPr dirty="0" sz="1500" spc="-4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recall</a:t>
                      </a:r>
                      <a:r>
                        <a:rPr dirty="0" sz="1500" spc="-4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500" spc="-4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56895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KNN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0.475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0.725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0.574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0.794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Lower</a:t>
                      </a:r>
                      <a:r>
                        <a:rPr dirty="0" sz="1500" spc="-4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r>
                        <a:rPr dirty="0" sz="1500" spc="-3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500" spc="-3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precision,</a:t>
                      </a:r>
                      <a:r>
                        <a:rPr dirty="0" sz="1500" spc="-4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dirty="0" sz="1500" spc="-3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acceptable</a:t>
                      </a:r>
                      <a:r>
                        <a:rPr dirty="0" sz="1500" spc="-3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recall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551" y="724382"/>
            <a:ext cx="90233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dirty="0" sz="16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5551" y="1116990"/>
            <a:ext cx="4798695" cy="5359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350"/>
              <a:t>Confusion</a:t>
            </a:r>
            <a:r>
              <a:rPr dirty="0" sz="3350" spc="-105"/>
              <a:t> </a:t>
            </a:r>
            <a:r>
              <a:rPr dirty="0" sz="3350"/>
              <a:t>Matrix</a:t>
            </a:r>
            <a:r>
              <a:rPr dirty="0" sz="3350" spc="-95"/>
              <a:t> </a:t>
            </a:r>
            <a:r>
              <a:rPr dirty="0" sz="3350" spc="-10"/>
              <a:t>Insights</a:t>
            </a:r>
            <a:endParaRPr sz="3350"/>
          </a:p>
        </p:txBody>
      </p:sp>
      <p:sp>
        <p:nvSpPr>
          <p:cNvPr id="4" name="object 4"/>
          <p:cNvSpPr txBox="1"/>
          <p:nvPr/>
        </p:nvSpPr>
        <p:spPr>
          <a:xfrm>
            <a:off x="625551" y="2048459"/>
            <a:ext cx="92094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Analysis</a:t>
            </a:r>
            <a:r>
              <a:rPr dirty="0" sz="14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the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Confusion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Matrix</a:t>
            </a:r>
            <a:r>
              <a:rPr dirty="0" sz="14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confirms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9978A"/>
                </a:solidFill>
                <a:latin typeface="Arial"/>
                <a:cs typeface="Arial"/>
              </a:rPr>
              <a:t>XGBoost's</a:t>
            </a:r>
            <a:r>
              <a:rPr dirty="0" sz="1400" spc="-25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effectiveness</a:t>
            </a:r>
            <a:r>
              <a:rPr dirty="0" sz="1400" spc="-5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balancing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churn</a:t>
            </a:r>
            <a:r>
              <a:rPr dirty="0" sz="14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identification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false</a:t>
            </a:r>
            <a:r>
              <a:rPr dirty="0" sz="1400" spc="-4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alarms.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4365" y="2543555"/>
            <a:ext cx="13361669" cy="3700779"/>
            <a:chOff x="634365" y="2543555"/>
            <a:chExt cx="13361669" cy="3700779"/>
          </a:xfrm>
        </p:grpSpPr>
        <p:sp>
          <p:nvSpPr>
            <p:cNvPr id="6" name="object 6"/>
            <p:cNvSpPr/>
            <p:nvPr/>
          </p:nvSpPr>
          <p:spPr>
            <a:xfrm>
              <a:off x="638175" y="2547365"/>
              <a:ext cx="13354050" cy="3693160"/>
            </a:xfrm>
            <a:custGeom>
              <a:avLst/>
              <a:gdLst/>
              <a:ahLst/>
              <a:cxnLst/>
              <a:rect l="l" t="t" r="r" b="b"/>
              <a:pathLst>
                <a:path w="13354050" h="3693160">
                  <a:moveTo>
                    <a:pt x="0" y="27304"/>
                  </a:moveTo>
                  <a:lnTo>
                    <a:pt x="2151" y="16662"/>
                  </a:lnTo>
                  <a:lnTo>
                    <a:pt x="8016" y="7985"/>
                  </a:lnTo>
                  <a:lnTo>
                    <a:pt x="16716" y="2141"/>
                  </a:lnTo>
                  <a:lnTo>
                    <a:pt x="27368" y="0"/>
                  </a:lnTo>
                  <a:lnTo>
                    <a:pt x="13326617" y="0"/>
                  </a:lnTo>
                  <a:lnTo>
                    <a:pt x="13337333" y="2141"/>
                  </a:lnTo>
                  <a:lnTo>
                    <a:pt x="13346048" y="7985"/>
                  </a:lnTo>
                  <a:lnTo>
                    <a:pt x="13351906" y="16662"/>
                  </a:lnTo>
                  <a:lnTo>
                    <a:pt x="13354050" y="27304"/>
                  </a:lnTo>
                  <a:lnTo>
                    <a:pt x="13354050" y="3665854"/>
                  </a:lnTo>
                  <a:lnTo>
                    <a:pt x="13351906" y="3676497"/>
                  </a:lnTo>
                  <a:lnTo>
                    <a:pt x="13346048" y="3685174"/>
                  </a:lnTo>
                  <a:lnTo>
                    <a:pt x="13337333" y="3691018"/>
                  </a:lnTo>
                  <a:lnTo>
                    <a:pt x="13326617" y="3693159"/>
                  </a:lnTo>
                  <a:lnTo>
                    <a:pt x="27368" y="3693159"/>
                  </a:lnTo>
                  <a:lnTo>
                    <a:pt x="16716" y="3691018"/>
                  </a:lnTo>
                  <a:lnTo>
                    <a:pt x="8016" y="3685174"/>
                  </a:lnTo>
                  <a:lnTo>
                    <a:pt x="2151" y="3676497"/>
                  </a:lnTo>
                  <a:lnTo>
                    <a:pt x="0" y="3665854"/>
                  </a:lnTo>
                  <a:lnTo>
                    <a:pt x="0" y="27304"/>
                  </a:lnTo>
                  <a:close/>
                </a:path>
              </a:pathLst>
            </a:custGeom>
            <a:ln w="76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45795" y="3080359"/>
              <a:ext cx="13338810" cy="2627630"/>
            </a:xfrm>
            <a:custGeom>
              <a:avLst/>
              <a:gdLst/>
              <a:ahLst/>
              <a:cxnLst/>
              <a:rect l="l" t="t" r="r" b="b"/>
              <a:pathLst>
                <a:path w="13338810" h="2627629">
                  <a:moveTo>
                    <a:pt x="13338797" y="2101723"/>
                  </a:moveTo>
                  <a:lnTo>
                    <a:pt x="0" y="2101723"/>
                  </a:lnTo>
                  <a:lnTo>
                    <a:pt x="0" y="2627147"/>
                  </a:lnTo>
                  <a:lnTo>
                    <a:pt x="13338797" y="2627147"/>
                  </a:lnTo>
                  <a:lnTo>
                    <a:pt x="13338797" y="2101723"/>
                  </a:lnTo>
                  <a:close/>
                </a:path>
                <a:path w="13338810" h="2627629">
                  <a:moveTo>
                    <a:pt x="13338797" y="1050925"/>
                  </a:moveTo>
                  <a:lnTo>
                    <a:pt x="0" y="1050925"/>
                  </a:lnTo>
                  <a:lnTo>
                    <a:pt x="0" y="1576349"/>
                  </a:lnTo>
                  <a:lnTo>
                    <a:pt x="13338797" y="1576349"/>
                  </a:lnTo>
                  <a:lnTo>
                    <a:pt x="13338797" y="1050925"/>
                  </a:lnTo>
                  <a:close/>
                </a:path>
                <a:path w="13338810" h="2627629">
                  <a:moveTo>
                    <a:pt x="13338797" y="0"/>
                  </a:moveTo>
                  <a:lnTo>
                    <a:pt x="0" y="0"/>
                  </a:lnTo>
                  <a:lnTo>
                    <a:pt x="0" y="525424"/>
                  </a:lnTo>
                  <a:lnTo>
                    <a:pt x="13338797" y="525424"/>
                  </a:lnTo>
                  <a:lnTo>
                    <a:pt x="13338797" y="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45794" y="2554960"/>
          <a:ext cx="13415010" cy="3676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1245"/>
                <a:gridCol w="1327784"/>
                <a:gridCol w="1333500"/>
                <a:gridCol w="1334135"/>
                <a:gridCol w="1333500"/>
                <a:gridCol w="5668009"/>
              </a:tblGrid>
              <a:tr h="52514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1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90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TN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TP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10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Observations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XGBoost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841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194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112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262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Better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TN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(low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FP),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FN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similar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to 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LightGBM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LightGBM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828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207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111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263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Good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Balance,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somewhat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more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FN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than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KNN,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less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RandomForest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823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212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104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270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Balanced,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FN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slightly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better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than 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XGBoost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LogisticRegression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754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281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294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Better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FN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(fewer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false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negatives), more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FP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(risk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higher 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costs)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Ensemble</a:t>
                      </a:r>
                      <a:r>
                        <a:rPr dirty="0" sz="1400" spc="-3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(Stacking)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865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170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141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233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Better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TN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(less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FP),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more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FN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(risk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losing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churning</a:t>
                      </a:r>
                      <a:r>
                        <a:rPr dirty="0" sz="1400" spc="-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customers)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635"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KNN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735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300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103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400" spc="-25" b="1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271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Good</a:t>
                      </a:r>
                      <a:r>
                        <a:rPr dirty="0" sz="1400" spc="-1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Recall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(high</a:t>
                      </a:r>
                      <a:r>
                        <a:rPr dirty="0" sz="1400" spc="-1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TP),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many</a:t>
                      </a:r>
                      <a:r>
                        <a:rPr dirty="0" sz="1400" spc="-1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False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Positives</a:t>
                      </a:r>
                      <a:r>
                        <a:rPr dirty="0" sz="1400" spc="-1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(high</a:t>
                      </a:r>
                      <a:r>
                        <a:rPr dirty="0" sz="1400" spc="-10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solidFill>
                            <a:srgbClr val="C9D5DE"/>
                          </a:solidFill>
                          <a:latin typeface="Arial"/>
                          <a:cs typeface="Arial"/>
                        </a:rPr>
                        <a:t>FP)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6641592"/>
            <a:ext cx="456438" cy="3741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98956" y="6572097"/>
            <a:ext cx="12359005" cy="60769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304165">
              <a:lnSpc>
                <a:spcPct val="100000"/>
              </a:lnSpc>
              <a:spcBef>
                <a:spcPts val="710"/>
              </a:spcBef>
            </a:pP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Selected</a:t>
            </a:r>
            <a:r>
              <a:rPr dirty="0" sz="14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Model: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XGBoost.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Robust,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well-balanced,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ideal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for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minimizing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customer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loss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(high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recall)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while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avoiding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false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alarms</a:t>
            </a:r>
            <a:r>
              <a:rPr dirty="0" sz="14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(reasonable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 accuracy).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Adapts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well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to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various</a:t>
            </a:r>
            <a:r>
              <a:rPr dirty="0" sz="14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9D5DE"/>
                </a:solidFill>
                <a:latin typeface="Arial"/>
                <a:cs typeface="Arial"/>
              </a:rPr>
              <a:t>business </a:t>
            </a:r>
            <a:r>
              <a:rPr dirty="0" sz="1400" spc="-10">
                <a:solidFill>
                  <a:srgbClr val="C9D5DE"/>
                </a:solidFill>
                <a:latin typeface="Arial"/>
                <a:cs typeface="Arial"/>
              </a:rPr>
              <a:t>cases.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8175" y="6445567"/>
            <a:ext cx="22860" cy="993775"/>
          </a:xfrm>
          <a:custGeom>
            <a:avLst/>
            <a:gdLst/>
            <a:ahLst/>
            <a:cxnLst/>
            <a:rect l="l" t="t" r="r" b="b"/>
            <a:pathLst>
              <a:path w="22859" h="993775">
                <a:moveTo>
                  <a:pt x="22859" y="0"/>
                </a:moveTo>
                <a:lnTo>
                  <a:pt x="0" y="0"/>
                </a:lnTo>
                <a:lnTo>
                  <a:pt x="0" y="993216"/>
                </a:lnTo>
                <a:lnTo>
                  <a:pt x="22859" y="993216"/>
                </a:lnTo>
                <a:lnTo>
                  <a:pt x="22859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3204" y="513499"/>
            <a:ext cx="10864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3204" y="981583"/>
            <a:ext cx="42564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dirty="0" spc="-105"/>
              <a:t> </a:t>
            </a:r>
            <a:r>
              <a:rPr dirty="0"/>
              <a:t>Churn</a:t>
            </a:r>
            <a:r>
              <a:rPr dirty="0" spc="-105"/>
              <a:t> </a:t>
            </a:r>
            <a:r>
              <a:rPr dirty="0" spc="-10"/>
              <a:t>Factors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6302" y="3480688"/>
            <a:ext cx="6120765" cy="2149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Contract</a:t>
            </a:r>
            <a:r>
              <a:rPr dirty="0" sz="1700" spc="-95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Month</a:t>
            </a:r>
            <a:r>
              <a:rPr dirty="0" sz="1700" spc="-9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to</a:t>
            </a:r>
            <a:r>
              <a:rPr dirty="0" sz="1700" spc="-11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Month:</a:t>
            </a:r>
            <a:r>
              <a:rPr dirty="0" sz="1700" spc="-65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Low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commitment,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easy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to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 leave.</a:t>
            </a:r>
            <a:endParaRPr sz="17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7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Internet</a:t>
            </a:r>
            <a:r>
              <a:rPr dirty="0" sz="1700" spc="-8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Fiber</a:t>
            </a:r>
            <a:r>
              <a:rPr dirty="0" sz="1700" spc="-95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Optic:</a:t>
            </a:r>
            <a:r>
              <a:rPr dirty="0" sz="1700" spc="-35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Customers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with</a:t>
            </a:r>
            <a:r>
              <a:rPr dirty="0" sz="17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more</a:t>
            </a:r>
            <a:r>
              <a:rPr dirty="0" sz="17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alternatives.</a:t>
            </a:r>
            <a:endParaRPr sz="1700">
              <a:latin typeface="Arial"/>
              <a:cs typeface="Arial"/>
            </a:endParaRPr>
          </a:p>
          <a:p>
            <a:pPr marL="355600" marR="948690" indent="-342900">
              <a:lnSpc>
                <a:spcPct val="130400"/>
              </a:lnSpc>
              <a:spcBef>
                <a:spcPts val="65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Payment</a:t>
            </a:r>
            <a:r>
              <a:rPr dirty="0" sz="1700" spc="-95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C9D5DE"/>
                </a:solidFill>
                <a:latin typeface="Arial"/>
                <a:cs typeface="Arial"/>
              </a:rPr>
              <a:t>Electronic</a:t>
            </a:r>
            <a:r>
              <a:rPr dirty="0" sz="1700" spc="-12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Check:</a:t>
            </a:r>
            <a:r>
              <a:rPr dirty="0" sz="1700" spc="-7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Volatile profile,</a:t>
            </a:r>
            <a:r>
              <a:rPr dirty="0" sz="17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lower contractual</a:t>
            </a:r>
            <a:r>
              <a:rPr dirty="0" sz="17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commitment.</a:t>
            </a:r>
            <a:endParaRPr sz="1700">
              <a:latin typeface="Arial"/>
              <a:cs typeface="Arial"/>
            </a:endParaRPr>
          </a:p>
          <a:p>
            <a:pPr marL="355600" marR="165100" indent="-342900">
              <a:lnSpc>
                <a:spcPct val="100000"/>
              </a:lnSpc>
              <a:spcBef>
                <a:spcPts val="12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700" spc="-10" b="1">
                <a:solidFill>
                  <a:srgbClr val="C9D5DE"/>
                </a:solidFill>
                <a:latin typeface="Arial"/>
                <a:cs typeface="Arial"/>
              </a:rPr>
              <a:t>Paperless</a:t>
            </a:r>
            <a:r>
              <a:rPr dirty="0" sz="1700" spc="-10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Billing:</a:t>
            </a:r>
            <a:r>
              <a:rPr dirty="0" sz="1700" spc="-65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Digital</a:t>
            </a:r>
            <a:r>
              <a:rPr dirty="0" sz="17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customer,</a:t>
            </a:r>
            <a:r>
              <a:rPr dirty="0" sz="17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often</a:t>
            </a:r>
            <a:r>
              <a:rPr dirty="0" sz="17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attentive</a:t>
            </a:r>
            <a:r>
              <a:rPr dirty="0" sz="17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to</a:t>
            </a:r>
            <a:r>
              <a:rPr dirty="0" sz="17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C9D5DE"/>
                </a:solidFill>
                <a:latin typeface="Arial"/>
                <a:cs typeface="Arial"/>
              </a:rPr>
              <a:t>new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offers.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3204" y="2078989"/>
            <a:ext cx="10500995" cy="1111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We</a:t>
            </a:r>
            <a:r>
              <a:rPr dirty="0" sz="17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utilized</a:t>
            </a:r>
            <a:r>
              <a:rPr dirty="0" sz="1700" spc="-5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SHAP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700" spc="-4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correlation</a:t>
            </a:r>
            <a:r>
              <a:rPr dirty="0" sz="1700" spc="-4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analysis</a:t>
            </a:r>
            <a:r>
              <a:rPr dirty="0" sz="1700" spc="-5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to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identify</a:t>
            </a:r>
            <a:r>
              <a:rPr dirty="0" sz="17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variables</a:t>
            </a:r>
            <a:r>
              <a:rPr dirty="0" sz="17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09978A"/>
                </a:solidFill>
                <a:latin typeface="Arial"/>
                <a:cs typeface="Arial"/>
              </a:rPr>
              <a:t>influencing</a:t>
            </a:r>
            <a:r>
              <a:rPr dirty="0" sz="1700" spc="-20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09978A"/>
                </a:solidFill>
                <a:latin typeface="Arial"/>
                <a:cs typeface="Arial"/>
              </a:rPr>
              <a:t>churn</a:t>
            </a:r>
            <a:r>
              <a:rPr dirty="0" sz="1700" spc="-35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09978A"/>
                </a:solidFill>
                <a:latin typeface="Arial"/>
                <a:cs typeface="Arial"/>
              </a:rPr>
              <a:t>probability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843395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Factors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44444"/>
                </a:solidFill>
                <a:latin typeface="Arial"/>
                <a:cs typeface="Arial"/>
              </a:rPr>
              <a:t>Increasing</a:t>
            </a:r>
            <a:r>
              <a:rPr dirty="0" sz="2400" spc="-70">
                <a:solidFill>
                  <a:srgbClr val="F44444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Churn: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	Factors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5CC87A"/>
                </a:solidFill>
                <a:latin typeface="Arial"/>
                <a:cs typeface="Arial"/>
              </a:rPr>
              <a:t>Decreasing</a:t>
            </a:r>
            <a:r>
              <a:rPr dirty="0" sz="2400" spc="-75">
                <a:solidFill>
                  <a:srgbClr val="5CC87A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Churn: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77505" y="3480688"/>
            <a:ext cx="5539740" cy="2570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700" spc="-10" b="1">
                <a:solidFill>
                  <a:srgbClr val="C9D5DE"/>
                </a:solidFill>
                <a:latin typeface="Arial"/>
                <a:cs typeface="Arial"/>
              </a:rPr>
              <a:t>Customer</a:t>
            </a:r>
            <a:r>
              <a:rPr dirty="0" sz="1700" spc="-13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Tenure:</a:t>
            </a:r>
            <a:r>
              <a:rPr dirty="0" sz="1700" spc="-10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Longer</a:t>
            </a:r>
            <a:r>
              <a:rPr dirty="0" sz="17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tenure,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greater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loyalty.</a:t>
            </a:r>
            <a:endParaRPr sz="17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7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700" spc="-10" b="1">
                <a:solidFill>
                  <a:srgbClr val="C9D5DE"/>
                </a:solidFill>
                <a:latin typeface="Arial"/>
                <a:cs typeface="Arial"/>
              </a:rPr>
              <a:t>Two-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year</a:t>
            </a:r>
            <a:r>
              <a:rPr dirty="0" sz="1700" spc="-95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Contract:</a:t>
            </a:r>
            <a:r>
              <a:rPr dirty="0" sz="1700" spc="-65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Long</a:t>
            </a:r>
            <a:r>
              <a:rPr dirty="0" sz="1700" spc="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contracts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limit</a:t>
            </a:r>
            <a:r>
              <a:rPr dirty="0" sz="17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exits.</a:t>
            </a:r>
            <a:endParaRPr sz="1700">
              <a:latin typeface="Arial"/>
              <a:cs typeface="Arial"/>
            </a:endParaRPr>
          </a:p>
          <a:p>
            <a:pPr marL="355600" marR="5080" indent="-342900">
              <a:lnSpc>
                <a:spcPct val="130400"/>
              </a:lnSpc>
              <a:spcBef>
                <a:spcPts val="65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Internet</a:t>
            </a:r>
            <a:r>
              <a:rPr dirty="0" sz="1700" spc="-12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TechSupport:</a:t>
            </a:r>
            <a:r>
              <a:rPr dirty="0" sz="1700" spc="-10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Technical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support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adds</a:t>
            </a:r>
            <a:r>
              <a:rPr dirty="0" sz="1700" spc="-5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value,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reduces</a:t>
            </a:r>
            <a:r>
              <a:rPr dirty="0" sz="1700" spc="-7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churn.</a:t>
            </a:r>
            <a:endParaRPr sz="1700">
              <a:latin typeface="Arial"/>
              <a:cs typeface="Arial"/>
            </a:endParaRPr>
          </a:p>
          <a:p>
            <a:pPr marL="355600" marR="83185" indent="-342900">
              <a:lnSpc>
                <a:spcPct val="100000"/>
              </a:lnSpc>
              <a:spcBef>
                <a:spcPts val="12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Internet</a:t>
            </a:r>
            <a:r>
              <a:rPr dirty="0" sz="1700" spc="-9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OnlineSecurity:</a:t>
            </a:r>
            <a:r>
              <a:rPr dirty="0" sz="1700" spc="-3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Additional</a:t>
            </a:r>
            <a:r>
              <a:rPr dirty="0" sz="17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protections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build trust.</a:t>
            </a:r>
            <a:endParaRPr sz="17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8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No</a:t>
            </a:r>
            <a:r>
              <a:rPr dirty="0" sz="1700" spc="-120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9D5DE"/>
                </a:solidFill>
                <a:latin typeface="Arial"/>
                <a:cs typeface="Arial"/>
              </a:rPr>
              <a:t>Internet:</a:t>
            </a:r>
            <a:r>
              <a:rPr dirty="0" sz="1700" spc="-85" b="1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Less</a:t>
            </a:r>
            <a:r>
              <a:rPr dirty="0" sz="17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incentive</a:t>
            </a:r>
            <a:r>
              <a:rPr dirty="0" sz="17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9D5DE"/>
                </a:solidFill>
                <a:latin typeface="Arial"/>
                <a:cs typeface="Arial"/>
              </a:rPr>
              <a:t>to</a:t>
            </a:r>
            <a:r>
              <a:rPr dirty="0" sz="17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Arial"/>
                <a:cs typeface="Arial"/>
              </a:rPr>
              <a:t>leave.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55929" y="6183121"/>
            <a:ext cx="13119100" cy="1451610"/>
            <a:chOff x="755929" y="6183121"/>
            <a:chExt cx="13119100" cy="1451610"/>
          </a:xfrm>
        </p:grpSpPr>
        <p:sp>
          <p:nvSpPr>
            <p:cNvPr id="8" name="object 8"/>
            <p:cNvSpPr/>
            <p:nvPr/>
          </p:nvSpPr>
          <p:spPr>
            <a:xfrm>
              <a:off x="755929" y="6183121"/>
              <a:ext cx="13119100" cy="1451610"/>
            </a:xfrm>
            <a:custGeom>
              <a:avLst/>
              <a:gdLst/>
              <a:ahLst/>
              <a:cxnLst/>
              <a:rect l="l" t="t" r="r" b="b"/>
              <a:pathLst>
                <a:path w="13119100" h="1451609">
                  <a:moveTo>
                    <a:pt x="13086181" y="0"/>
                  </a:moveTo>
                  <a:lnTo>
                    <a:pt x="32410" y="0"/>
                  </a:lnTo>
                  <a:lnTo>
                    <a:pt x="19791" y="2559"/>
                  </a:lnTo>
                  <a:lnTo>
                    <a:pt x="9490" y="9524"/>
                  </a:lnTo>
                  <a:lnTo>
                    <a:pt x="2545" y="19823"/>
                  </a:lnTo>
                  <a:lnTo>
                    <a:pt x="0" y="32384"/>
                  </a:lnTo>
                  <a:lnTo>
                    <a:pt x="0" y="1418882"/>
                  </a:lnTo>
                  <a:lnTo>
                    <a:pt x="2545" y="1431493"/>
                  </a:lnTo>
                  <a:lnTo>
                    <a:pt x="9490" y="1441791"/>
                  </a:lnTo>
                  <a:lnTo>
                    <a:pt x="19791" y="1448734"/>
                  </a:lnTo>
                  <a:lnTo>
                    <a:pt x="32410" y="1451279"/>
                  </a:lnTo>
                  <a:lnTo>
                    <a:pt x="13086181" y="1451279"/>
                  </a:lnTo>
                  <a:lnTo>
                    <a:pt x="13098796" y="1448734"/>
                  </a:lnTo>
                  <a:lnTo>
                    <a:pt x="13109089" y="1441791"/>
                  </a:lnTo>
                  <a:lnTo>
                    <a:pt x="13116024" y="1431493"/>
                  </a:lnTo>
                  <a:lnTo>
                    <a:pt x="13118566" y="1418882"/>
                  </a:lnTo>
                  <a:lnTo>
                    <a:pt x="13118566" y="32384"/>
                  </a:lnTo>
                  <a:lnTo>
                    <a:pt x="13116024" y="19823"/>
                  </a:lnTo>
                  <a:lnTo>
                    <a:pt x="13109089" y="9524"/>
                  </a:lnTo>
                  <a:lnTo>
                    <a:pt x="13098796" y="2559"/>
                  </a:lnTo>
                  <a:lnTo>
                    <a:pt x="13086181" y="0"/>
                  </a:lnTo>
                  <a:close/>
                </a:path>
              </a:pathLst>
            </a:custGeom>
            <a:solidFill>
              <a:srgbClr val="2594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905" y="6482130"/>
              <a:ext cx="317665" cy="25407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93011" y="6372643"/>
            <a:ext cx="10484485" cy="1150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Mixed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Effects: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000">
              <a:latin typeface="Arial"/>
              <a:cs typeface="Arial"/>
            </a:endParaRPr>
          </a:p>
          <a:p>
            <a:pPr marL="12700" marR="5080" indent="2540">
              <a:lnSpc>
                <a:spcPct val="100000"/>
              </a:lnSpc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r>
              <a:rPr dirty="0" sz="17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StreamingMovies</a:t>
            </a:r>
            <a:r>
              <a:rPr dirty="0" sz="1700" spc="-1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7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StreamingTV:</a:t>
            </a:r>
            <a:r>
              <a:rPr dirty="0" sz="17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Effect</a:t>
            </a:r>
            <a:r>
              <a:rPr dirty="0" sz="17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depends</a:t>
            </a:r>
            <a:r>
              <a:rPr dirty="0" sz="1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7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dirty="0" sz="17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variables</a:t>
            </a:r>
            <a:r>
              <a:rPr dirty="0" sz="1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(e.g.,</a:t>
            </a:r>
            <a:r>
              <a:rPr dirty="0" sz="1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type,</a:t>
            </a:r>
            <a:r>
              <a:rPr dirty="0" sz="17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additional services).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1570" y="681507"/>
            <a:ext cx="106108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dirty="0" sz="19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11570" y="1141577"/>
            <a:ext cx="5507355" cy="6203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/>
              <a:t>Identified</a:t>
            </a:r>
            <a:r>
              <a:rPr dirty="0" sz="3900" spc="-165"/>
              <a:t> </a:t>
            </a:r>
            <a:r>
              <a:rPr dirty="0" sz="3900"/>
              <a:t>Churn</a:t>
            </a:r>
            <a:r>
              <a:rPr dirty="0" sz="3900" spc="-165"/>
              <a:t> </a:t>
            </a:r>
            <a:r>
              <a:rPr dirty="0" sz="3900" spc="-10"/>
              <a:t>Patterns</a:t>
            </a:r>
            <a:endParaRPr sz="3900"/>
          </a:p>
        </p:txBody>
      </p:sp>
      <p:grpSp>
        <p:nvGrpSpPr>
          <p:cNvPr id="4" name="object 4"/>
          <p:cNvGrpSpPr/>
          <p:nvPr/>
        </p:nvGrpSpPr>
        <p:grpSpPr>
          <a:xfrm>
            <a:off x="6200775" y="2209164"/>
            <a:ext cx="7703820" cy="2084705"/>
            <a:chOff x="6200775" y="2209164"/>
            <a:chExt cx="7703820" cy="2084705"/>
          </a:xfrm>
        </p:grpSpPr>
        <p:sp>
          <p:nvSpPr>
            <p:cNvPr id="5" name="object 5"/>
            <p:cNvSpPr/>
            <p:nvPr/>
          </p:nvSpPr>
          <p:spPr>
            <a:xfrm>
              <a:off x="6223634" y="2220594"/>
              <a:ext cx="7669530" cy="2061845"/>
            </a:xfrm>
            <a:custGeom>
              <a:avLst/>
              <a:gdLst/>
              <a:ahLst/>
              <a:cxnLst/>
              <a:rect l="l" t="t" r="r" b="b"/>
              <a:pathLst>
                <a:path w="7669530" h="2061845">
                  <a:moveTo>
                    <a:pt x="755980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951608"/>
                  </a:lnTo>
                  <a:lnTo>
                    <a:pt x="8626" y="1994310"/>
                  </a:lnTo>
                  <a:lnTo>
                    <a:pt x="32146" y="2029190"/>
                  </a:lnTo>
                  <a:lnTo>
                    <a:pt x="67026" y="2052710"/>
                  </a:lnTo>
                  <a:lnTo>
                    <a:pt x="109728" y="2061336"/>
                  </a:lnTo>
                  <a:lnTo>
                    <a:pt x="7559802" y="2061336"/>
                  </a:lnTo>
                  <a:lnTo>
                    <a:pt x="7602503" y="2052710"/>
                  </a:lnTo>
                  <a:lnTo>
                    <a:pt x="7637383" y="2029190"/>
                  </a:lnTo>
                  <a:lnTo>
                    <a:pt x="7660903" y="1994310"/>
                  </a:lnTo>
                  <a:lnTo>
                    <a:pt x="7669530" y="1951608"/>
                  </a:lnTo>
                  <a:lnTo>
                    <a:pt x="7669530" y="109727"/>
                  </a:lnTo>
                  <a:lnTo>
                    <a:pt x="7660903" y="67026"/>
                  </a:lnTo>
                  <a:lnTo>
                    <a:pt x="7637383" y="32146"/>
                  </a:lnTo>
                  <a:lnTo>
                    <a:pt x="7602503" y="8626"/>
                  </a:lnTo>
                  <a:lnTo>
                    <a:pt x="7559802" y="0"/>
                  </a:lnTo>
                  <a:close/>
                </a:path>
              </a:pathLst>
            </a:custGeom>
            <a:solidFill>
              <a:srgbClr val="1128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223634" y="2220594"/>
              <a:ext cx="7669530" cy="2061845"/>
            </a:xfrm>
            <a:custGeom>
              <a:avLst/>
              <a:gdLst/>
              <a:ahLst/>
              <a:cxnLst/>
              <a:rect l="l" t="t" r="r" b="b"/>
              <a:pathLst>
                <a:path w="7669530" h="2061845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559802" y="0"/>
                  </a:lnTo>
                  <a:lnTo>
                    <a:pt x="7602503" y="8626"/>
                  </a:lnTo>
                  <a:lnTo>
                    <a:pt x="7637383" y="32146"/>
                  </a:lnTo>
                  <a:lnTo>
                    <a:pt x="7660903" y="67026"/>
                  </a:lnTo>
                  <a:lnTo>
                    <a:pt x="7669530" y="109727"/>
                  </a:lnTo>
                  <a:lnTo>
                    <a:pt x="7669530" y="1951608"/>
                  </a:lnTo>
                  <a:lnTo>
                    <a:pt x="7660903" y="1994310"/>
                  </a:lnTo>
                  <a:lnTo>
                    <a:pt x="7637383" y="2029190"/>
                  </a:lnTo>
                  <a:lnTo>
                    <a:pt x="7602503" y="2052710"/>
                  </a:lnTo>
                  <a:lnTo>
                    <a:pt x="7559802" y="2061336"/>
                  </a:lnTo>
                  <a:lnTo>
                    <a:pt x="109728" y="2061336"/>
                  </a:lnTo>
                  <a:lnTo>
                    <a:pt x="67026" y="2052710"/>
                  </a:lnTo>
                  <a:lnTo>
                    <a:pt x="32146" y="2029190"/>
                  </a:lnTo>
                  <a:lnTo>
                    <a:pt x="8626" y="1994310"/>
                  </a:lnTo>
                  <a:lnTo>
                    <a:pt x="0" y="1951608"/>
                  </a:lnTo>
                  <a:lnTo>
                    <a:pt x="0" y="109727"/>
                  </a:lnTo>
                  <a:close/>
                </a:path>
              </a:pathLst>
            </a:custGeom>
            <a:ln w="22859">
              <a:solidFill>
                <a:srgbClr val="485F6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00775" y="2220594"/>
              <a:ext cx="91440" cy="2061845"/>
            </a:xfrm>
            <a:custGeom>
              <a:avLst/>
              <a:gdLst/>
              <a:ahLst/>
              <a:cxnLst/>
              <a:rect l="l" t="t" r="r" b="b"/>
              <a:pathLst>
                <a:path w="91439" h="2061845">
                  <a:moveTo>
                    <a:pt x="59817" y="0"/>
                  </a:moveTo>
                  <a:lnTo>
                    <a:pt x="31623" y="0"/>
                  </a:lnTo>
                  <a:lnTo>
                    <a:pt x="19288" y="2494"/>
                  </a:lnTo>
                  <a:lnTo>
                    <a:pt x="9239" y="9286"/>
                  </a:lnTo>
                  <a:lnTo>
                    <a:pt x="2476" y="19341"/>
                  </a:lnTo>
                  <a:lnTo>
                    <a:pt x="0" y="31623"/>
                  </a:lnTo>
                  <a:lnTo>
                    <a:pt x="0" y="2029714"/>
                  </a:lnTo>
                  <a:lnTo>
                    <a:pt x="2476" y="2042048"/>
                  </a:lnTo>
                  <a:lnTo>
                    <a:pt x="9239" y="2052097"/>
                  </a:lnTo>
                  <a:lnTo>
                    <a:pt x="19288" y="2058860"/>
                  </a:lnTo>
                  <a:lnTo>
                    <a:pt x="31623" y="2061337"/>
                  </a:lnTo>
                  <a:lnTo>
                    <a:pt x="59817" y="2061337"/>
                  </a:lnTo>
                  <a:lnTo>
                    <a:pt x="72151" y="2058860"/>
                  </a:lnTo>
                  <a:lnTo>
                    <a:pt x="82200" y="2052097"/>
                  </a:lnTo>
                  <a:lnTo>
                    <a:pt x="88963" y="2042048"/>
                  </a:lnTo>
                  <a:lnTo>
                    <a:pt x="91440" y="2029714"/>
                  </a:lnTo>
                  <a:lnTo>
                    <a:pt x="91440" y="31623"/>
                  </a:lnTo>
                  <a:lnTo>
                    <a:pt x="88963" y="19341"/>
                  </a:lnTo>
                  <a:lnTo>
                    <a:pt x="82200" y="9286"/>
                  </a:lnTo>
                  <a:lnTo>
                    <a:pt x="72151" y="2494"/>
                  </a:lnTo>
                  <a:lnTo>
                    <a:pt x="59817" y="0"/>
                  </a:lnTo>
                  <a:close/>
                </a:path>
              </a:pathLst>
            </a:custGeom>
            <a:solidFill>
              <a:srgbClr val="09978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6200775" y="4481195"/>
            <a:ext cx="7703820" cy="2084705"/>
            <a:chOff x="6200775" y="4481195"/>
            <a:chExt cx="7703820" cy="2084705"/>
          </a:xfrm>
        </p:grpSpPr>
        <p:sp>
          <p:nvSpPr>
            <p:cNvPr id="9" name="object 9"/>
            <p:cNvSpPr/>
            <p:nvPr/>
          </p:nvSpPr>
          <p:spPr>
            <a:xfrm>
              <a:off x="6223634" y="4492625"/>
              <a:ext cx="7669530" cy="2061845"/>
            </a:xfrm>
            <a:custGeom>
              <a:avLst/>
              <a:gdLst/>
              <a:ahLst/>
              <a:cxnLst/>
              <a:rect l="l" t="t" r="r" b="b"/>
              <a:pathLst>
                <a:path w="7669530" h="2061845">
                  <a:moveTo>
                    <a:pt x="7559802" y="0"/>
                  </a:moveTo>
                  <a:lnTo>
                    <a:pt x="109728" y="0"/>
                  </a:lnTo>
                  <a:lnTo>
                    <a:pt x="67026" y="8608"/>
                  </a:lnTo>
                  <a:lnTo>
                    <a:pt x="32146" y="32099"/>
                  </a:lnTo>
                  <a:lnTo>
                    <a:pt x="8626" y="66972"/>
                  </a:lnTo>
                  <a:lnTo>
                    <a:pt x="0" y="109727"/>
                  </a:lnTo>
                  <a:lnTo>
                    <a:pt x="0" y="1951608"/>
                  </a:lnTo>
                  <a:lnTo>
                    <a:pt x="8626" y="1994310"/>
                  </a:lnTo>
                  <a:lnTo>
                    <a:pt x="32146" y="2029190"/>
                  </a:lnTo>
                  <a:lnTo>
                    <a:pt x="67026" y="2052710"/>
                  </a:lnTo>
                  <a:lnTo>
                    <a:pt x="109728" y="2061336"/>
                  </a:lnTo>
                  <a:lnTo>
                    <a:pt x="7559802" y="2061336"/>
                  </a:lnTo>
                  <a:lnTo>
                    <a:pt x="7602503" y="2052710"/>
                  </a:lnTo>
                  <a:lnTo>
                    <a:pt x="7637383" y="2029190"/>
                  </a:lnTo>
                  <a:lnTo>
                    <a:pt x="7660903" y="1994310"/>
                  </a:lnTo>
                  <a:lnTo>
                    <a:pt x="7669530" y="1951608"/>
                  </a:lnTo>
                  <a:lnTo>
                    <a:pt x="7669530" y="109727"/>
                  </a:lnTo>
                  <a:lnTo>
                    <a:pt x="7660903" y="66972"/>
                  </a:lnTo>
                  <a:lnTo>
                    <a:pt x="7637383" y="32099"/>
                  </a:lnTo>
                  <a:lnTo>
                    <a:pt x="7602503" y="8608"/>
                  </a:lnTo>
                  <a:lnTo>
                    <a:pt x="7559802" y="0"/>
                  </a:lnTo>
                  <a:close/>
                </a:path>
              </a:pathLst>
            </a:custGeom>
            <a:solidFill>
              <a:srgbClr val="1128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23634" y="4492625"/>
              <a:ext cx="7669530" cy="2061845"/>
            </a:xfrm>
            <a:custGeom>
              <a:avLst/>
              <a:gdLst/>
              <a:ahLst/>
              <a:cxnLst/>
              <a:rect l="l" t="t" r="r" b="b"/>
              <a:pathLst>
                <a:path w="7669530" h="2061845">
                  <a:moveTo>
                    <a:pt x="0" y="109727"/>
                  </a:moveTo>
                  <a:lnTo>
                    <a:pt x="8626" y="66972"/>
                  </a:lnTo>
                  <a:lnTo>
                    <a:pt x="32146" y="32099"/>
                  </a:lnTo>
                  <a:lnTo>
                    <a:pt x="67026" y="8608"/>
                  </a:lnTo>
                  <a:lnTo>
                    <a:pt x="109728" y="0"/>
                  </a:lnTo>
                  <a:lnTo>
                    <a:pt x="7559802" y="0"/>
                  </a:lnTo>
                  <a:lnTo>
                    <a:pt x="7602503" y="8608"/>
                  </a:lnTo>
                  <a:lnTo>
                    <a:pt x="7637383" y="32099"/>
                  </a:lnTo>
                  <a:lnTo>
                    <a:pt x="7660903" y="66972"/>
                  </a:lnTo>
                  <a:lnTo>
                    <a:pt x="7669530" y="109727"/>
                  </a:lnTo>
                  <a:lnTo>
                    <a:pt x="7669530" y="1951608"/>
                  </a:lnTo>
                  <a:lnTo>
                    <a:pt x="7660903" y="1994310"/>
                  </a:lnTo>
                  <a:lnTo>
                    <a:pt x="7637383" y="2029190"/>
                  </a:lnTo>
                  <a:lnTo>
                    <a:pt x="7602503" y="2052710"/>
                  </a:lnTo>
                  <a:lnTo>
                    <a:pt x="7559802" y="2061336"/>
                  </a:lnTo>
                  <a:lnTo>
                    <a:pt x="109728" y="2061336"/>
                  </a:lnTo>
                  <a:lnTo>
                    <a:pt x="67026" y="2052710"/>
                  </a:lnTo>
                  <a:lnTo>
                    <a:pt x="32146" y="2029190"/>
                  </a:lnTo>
                  <a:lnTo>
                    <a:pt x="8626" y="1994310"/>
                  </a:lnTo>
                  <a:lnTo>
                    <a:pt x="0" y="1951608"/>
                  </a:lnTo>
                  <a:lnTo>
                    <a:pt x="0" y="109727"/>
                  </a:lnTo>
                  <a:close/>
                </a:path>
              </a:pathLst>
            </a:custGeom>
            <a:ln w="22859">
              <a:solidFill>
                <a:srgbClr val="485F6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00775" y="4492625"/>
              <a:ext cx="91440" cy="2061845"/>
            </a:xfrm>
            <a:custGeom>
              <a:avLst/>
              <a:gdLst/>
              <a:ahLst/>
              <a:cxnLst/>
              <a:rect l="l" t="t" r="r" b="b"/>
              <a:pathLst>
                <a:path w="91439" h="2061845">
                  <a:moveTo>
                    <a:pt x="59817" y="0"/>
                  </a:moveTo>
                  <a:lnTo>
                    <a:pt x="31623" y="0"/>
                  </a:lnTo>
                  <a:lnTo>
                    <a:pt x="19288" y="2474"/>
                  </a:lnTo>
                  <a:lnTo>
                    <a:pt x="9239" y="9223"/>
                  </a:lnTo>
                  <a:lnTo>
                    <a:pt x="2476" y="19234"/>
                  </a:lnTo>
                  <a:lnTo>
                    <a:pt x="0" y="31496"/>
                  </a:lnTo>
                  <a:lnTo>
                    <a:pt x="0" y="2029714"/>
                  </a:lnTo>
                  <a:lnTo>
                    <a:pt x="2476" y="2041995"/>
                  </a:lnTo>
                  <a:lnTo>
                    <a:pt x="9239" y="2052050"/>
                  </a:lnTo>
                  <a:lnTo>
                    <a:pt x="19288" y="2058842"/>
                  </a:lnTo>
                  <a:lnTo>
                    <a:pt x="31623" y="2061337"/>
                  </a:lnTo>
                  <a:lnTo>
                    <a:pt x="59817" y="2061337"/>
                  </a:lnTo>
                  <a:lnTo>
                    <a:pt x="72151" y="2058842"/>
                  </a:lnTo>
                  <a:lnTo>
                    <a:pt x="82200" y="2052050"/>
                  </a:lnTo>
                  <a:lnTo>
                    <a:pt x="88963" y="2041995"/>
                  </a:lnTo>
                  <a:lnTo>
                    <a:pt x="91440" y="2029714"/>
                  </a:lnTo>
                  <a:lnTo>
                    <a:pt x="91440" y="31496"/>
                  </a:lnTo>
                  <a:lnTo>
                    <a:pt x="88963" y="19234"/>
                  </a:lnTo>
                  <a:lnTo>
                    <a:pt x="82200" y="9223"/>
                  </a:lnTo>
                  <a:lnTo>
                    <a:pt x="72151" y="2474"/>
                  </a:lnTo>
                  <a:lnTo>
                    <a:pt x="59817" y="0"/>
                  </a:lnTo>
                  <a:close/>
                </a:path>
              </a:pathLst>
            </a:custGeom>
            <a:solidFill>
              <a:srgbClr val="09978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High-Risk </a:t>
            </a:r>
            <a:r>
              <a:rPr dirty="0" spc="-10"/>
              <a:t>Segment</a:t>
            </a:r>
          </a:p>
          <a:p>
            <a:pPr marL="660400" indent="-342900">
              <a:lnSpc>
                <a:spcPct val="100000"/>
              </a:lnSpc>
              <a:spcBef>
                <a:spcPts val="1735"/>
              </a:spcBef>
              <a:buChar char="•"/>
              <a:tabLst>
                <a:tab pos="660400" algn="l"/>
              </a:tabLst>
            </a:pPr>
            <a:r>
              <a:rPr dirty="0" sz="1650"/>
              <a:t>Monthly</a:t>
            </a:r>
            <a:r>
              <a:rPr dirty="0" sz="1650" spc="-25"/>
              <a:t> </a:t>
            </a:r>
            <a:r>
              <a:rPr dirty="0" sz="1650"/>
              <a:t>contracts,</a:t>
            </a:r>
            <a:r>
              <a:rPr dirty="0" sz="1650" spc="-25"/>
              <a:t> </a:t>
            </a:r>
            <a:r>
              <a:rPr dirty="0" sz="1650"/>
              <a:t>low</a:t>
            </a:r>
            <a:r>
              <a:rPr dirty="0" sz="1650" spc="-10"/>
              <a:t> tenure.</a:t>
            </a:r>
            <a:endParaRPr sz="1650"/>
          </a:p>
          <a:p>
            <a:pPr marL="660400" indent="-342900">
              <a:lnSpc>
                <a:spcPct val="100000"/>
              </a:lnSpc>
              <a:spcBef>
                <a:spcPts val="1255"/>
              </a:spcBef>
              <a:buChar char="•"/>
              <a:tabLst>
                <a:tab pos="660400" algn="l"/>
              </a:tabLst>
            </a:pPr>
            <a:r>
              <a:rPr dirty="0" sz="1650"/>
              <a:t>Fiber</a:t>
            </a:r>
            <a:r>
              <a:rPr dirty="0" sz="1650" spc="-10"/>
              <a:t> </a:t>
            </a:r>
            <a:r>
              <a:rPr dirty="0" sz="1650"/>
              <a:t>optics,</a:t>
            </a:r>
            <a:r>
              <a:rPr dirty="0" sz="1650" spc="-10"/>
              <a:t> </a:t>
            </a:r>
            <a:r>
              <a:rPr dirty="0" sz="1650"/>
              <a:t>e-check</a:t>
            </a:r>
            <a:r>
              <a:rPr dirty="0" sz="1650" spc="-25"/>
              <a:t> </a:t>
            </a:r>
            <a:r>
              <a:rPr dirty="0" sz="1650"/>
              <a:t>payments,</a:t>
            </a:r>
            <a:r>
              <a:rPr dirty="0" sz="1650" spc="-10"/>
              <a:t> </a:t>
            </a:r>
            <a:r>
              <a:rPr dirty="0" sz="1650"/>
              <a:t>e-</a:t>
            </a:r>
            <a:r>
              <a:rPr dirty="0" sz="1650" spc="-10"/>
              <a:t>invoicing.</a:t>
            </a:r>
            <a:endParaRPr sz="1650"/>
          </a:p>
          <a:p>
            <a:pPr marL="660400" marR="636270" indent="-342900">
              <a:lnSpc>
                <a:spcPct val="100000"/>
              </a:lnSpc>
              <a:spcBef>
                <a:spcPts val="1250"/>
              </a:spcBef>
              <a:buFont typeface="Arial"/>
              <a:buChar char="•"/>
              <a:tabLst>
                <a:tab pos="660400" algn="l"/>
              </a:tabLst>
            </a:pPr>
            <a:r>
              <a:rPr dirty="0" sz="1650" b="1">
                <a:latin typeface="Arial"/>
                <a:cs typeface="Arial"/>
              </a:rPr>
              <a:t>Profile:</a:t>
            </a:r>
            <a:r>
              <a:rPr dirty="0" sz="1650" spc="-60" b="1">
                <a:latin typeface="Arial"/>
                <a:cs typeface="Arial"/>
              </a:rPr>
              <a:t> </a:t>
            </a:r>
            <a:r>
              <a:rPr dirty="0" sz="1650"/>
              <a:t>Digital-savvy,</a:t>
            </a:r>
            <a:r>
              <a:rPr dirty="0" sz="1650" spc="-30"/>
              <a:t> </a:t>
            </a:r>
            <a:r>
              <a:rPr dirty="0" sz="1650"/>
              <a:t>short-term</a:t>
            </a:r>
            <a:r>
              <a:rPr dirty="0" sz="1650" spc="-35"/>
              <a:t> </a:t>
            </a:r>
            <a:r>
              <a:rPr dirty="0" sz="1650"/>
              <a:t>commitment,</a:t>
            </a:r>
            <a:r>
              <a:rPr dirty="0" sz="1650" spc="-30"/>
              <a:t> </a:t>
            </a:r>
            <a:r>
              <a:rPr dirty="0" sz="1650" spc="-10"/>
              <a:t>potentially flighty.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95"/>
              </a:spcBef>
              <a:buClr>
                <a:srgbClr val="C9D5DE"/>
              </a:buClr>
              <a:buFont typeface="Arial"/>
              <a:buChar char="•"/>
            </a:pPr>
            <a:endParaRPr sz="1650"/>
          </a:p>
          <a:p>
            <a:pPr marL="317500">
              <a:lnSpc>
                <a:spcPct val="100000"/>
              </a:lnSpc>
            </a:pPr>
            <a:r>
              <a:rPr dirty="0"/>
              <a:t>Protected</a:t>
            </a:r>
            <a:r>
              <a:rPr dirty="0" spc="-40"/>
              <a:t> </a:t>
            </a:r>
            <a:r>
              <a:rPr dirty="0" spc="-10"/>
              <a:t>Segment</a:t>
            </a:r>
          </a:p>
          <a:p>
            <a:pPr marL="660400" indent="-342900">
              <a:lnSpc>
                <a:spcPct val="100000"/>
              </a:lnSpc>
              <a:spcBef>
                <a:spcPts val="1735"/>
              </a:spcBef>
              <a:buChar char="•"/>
              <a:tabLst>
                <a:tab pos="660400" algn="l"/>
              </a:tabLst>
            </a:pPr>
            <a:r>
              <a:rPr dirty="0" sz="1650"/>
              <a:t>Two-year</a:t>
            </a:r>
            <a:r>
              <a:rPr dirty="0" sz="1650" spc="-30"/>
              <a:t> </a:t>
            </a:r>
            <a:r>
              <a:rPr dirty="0" sz="1650"/>
              <a:t>contracts,</a:t>
            </a:r>
            <a:r>
              <a:rPr dirty="0" sz="1650" spc="-40"/>
              <a:t> </a:t>
            </a:r>
            <a:r>
              <a:rPr dirty="0" sz="1650"/>
              <a:t>long</a:t>
            </a:r>
            <a:r>
              <a:rPr dirty="0" sz="1650" spc="-5"/>
              <a:t> </a:t>
            </a:r>
            <a:r>
              <a:rPr dirty="0" sz="1650" spc="-10"/>
              <a:t>tenure.</a:t>
            </a:r>
            <a:endParaRPr sz="1650"/>
          </a:p>
          <a:p>
            <a:pPr marL="660400" marR="1623060" indent="-342900">
              <a:lnSpc>
                <a:spcPct val="100000"/>
              </a:lnSpc>
              <a:spcBef>
                <a:spcPts val="1255"/>
              </a:spcBef>
              <a:buChar char="•"/>
              <a:tabLst>
                <a:tab pos="660400" algn="l"/>
              </a:tabLst>
            </a:pPr>
            <a:r>
              <a:rPr dirty="0" sz="1650"/>
              <a:t>Utilize</a:t>
            </a:r>
            <a:r>
              <a:rPr dirty="0" sz="1650" spc="-40"/>
              <a:t> </a:t>
            </a:r>
            <a:r>
              <a:rPr dirty="0" sz="1650"/>
              <a:t>additional</a:t>
            </a:r>
            <a:r>
              <a:rPr dirty="0" sz="1650" spc="-65"/>
              <a:t> </a:t>
            </a:r>
            <a:r>
              <a:rPr dirty="0" sz="1650"/>
              <a:t>services</a:t>
            </a:r>
            <a:r>
              <a:rPr dirty="0" sz="1650" spc="-20"/>
              <a:t> </a:t>
            </a:r>
            <a:r>
              <a:rPr dirty="0" sz="1650"/>
              <a:t>(tech</a:t>
            </a:r>
            <a:r>
              <a:rPr dirty="0" sz="1650" spc="-40"/>
              <a:t> </a:t>
            </a:r>
            <a:r>
              <a:rPr dirty="0" sz="1650"/>
              <a:t>support,</a:t>
            </a:r>
            <a:r>
              <a:rPr dirty="0" sz="1650" spc="-25"/>
              <a:t> </a:t>
            </a:r>
            <a:r>
              <a:rPr dirty="0" sz="1650" spc="-10"/>
              <a:t>online security).</a:t>
            </a:r>
            <a:endParaRPr sz="1650"/>
          </a:p>
          <a:p>
            <a:pPr marL="660400" indent="-342900">
              <a:lnSpc>
                <a:spcPct val="100000"/>
              </a:lnSpc>
              <a:spcBef>
                <a:spcPts val="1260"/>
              </a:spcBef>
              <a:buFont typeface="Arial"/>
              <a:buChar char="•"/>
              <a:tabLst>
                <a:tab pos="660400" algn="l"/>
              </a:tabLst>
            </a:pPr>
            <a:r>
              <a:rPr dirty="0" sz="1650" b="1">
                <a:latin typeface="Arial"/>
                <a:cs typeface="Arial"/>
              </a:rPr>
              <a:t>Profile: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/>
              <a:t>Loyal,</a:t>
            </a:r>
            <a:r>
              <a:rPr dirty="0" sz="1650" spc="-5"/>
              <a:t> </a:t>
            </a:r>
            <a:r>
              <a:rPr dirty="0" sz="1650" spc="-10"/>
              <a:t>value-</a:t>
            </a:r>
            <a:r>
              <a:rPr dirty="0" sz="1650"/>
              <a:t>added</a:t>
            </a:r>
            <a:r>
              <a:rPr dirty="0" sz="1650" spc="-40"/>
              <a:t> </a:t>
            </a:r>
            <a:r>
              <a:rPr dirty="0" sz="1650"/>
              <a:t>service-oriented,</a:t>
            </a:r>
            <a:r>
              <a:rPr dirty="0" sz="1650" spc="-30"/>
              <a:t> </a:t>
            </a:r>
            <a:r>
              <a:rPr dirty="0" sz="1650" spc="-10"/>
              <a:t>stable.</a:t>
            </a:r>
            <a:endParaRPr sz="1650">
              <a:latin typeface="Arial"/>
              <a:cs typeface="Arial"/>
            </a:endParaRPr>
          </a:p>
          <a:p>
            <a:pPr marL="12700" marR="5080" indent="2540">
              <a:lnSpc>
                <a:spcPct val="136400"/>
              </a:lnSpc>
              <a:spcBef>
                <a:spcPts val="1670"/>
              </a:spcBef>
            </a:pPr>
            <a:r>
              <a:rPr dirty="0" sz="1650" spc="-10" b="1">
                <a:latin typeface="Arial"/>
                <a:cs typeface="Arial"/>
              </a:rPr>
              <a:t>Key</a:t>
            </a:r>
            <a:r>
              <a:rPr dirty="0" sz="1650" spc="-12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Interactions: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/>
              <a:t>Long</a:t>
            </a:r>
            <a:r>
              <a:rPr dirty="0" sz="1650" spc="-5"/>
              <a:t> </a:t>
            </a:r>
            <a:r>
              <a:rPr dirty="0" sz="1650"/>
              <a:t>contract</a:t>
            </a:r>
            <a:r>
              <a:rPr dirty="0" sz="1650" spc="-45"/>
              <a:t> </a:t>
            </a:r>
            <a:r>
              <a:rPr dirty="0" sz="1650"/>
              <a:t>+</a:t>
            </a:r>
            <a:r>
              <a:rPr dirty="0" sz="1650" spc="-5"/>
              <a:t> </a:t>
            </a:r>
            <a:r>
              <a:rPr dirty="0" sz="1650"/>
              <a:t>additional</a:t>
            </a:r>
            <a:r>
              <a:rPr dirty="0" sz="1650" spc="-50"/>
              <a:t> </a:t>
            </a:r>
            <a:r>
              <a:rPr dirty="0" sz="1650"/>
              <a:t>services</a:t>
            </a:r>
            <a:r>
              <a:rPr dirty="0" sz="1650" spc="-5"/>
              <a:t> </a:t>
            </a:r>
            <a:r>
              <a:rPr dirty="0" sz="1650" spc="-10"/>
              <a:t>maximize </a:t>
            </a:r>
            <a:r>
              <a:rPr dirty="0" sz="1650"/>
              <a:t>retention.</a:t>
            </a:r>
            <a:r>
              <a:rPr dirty="0" sz="1650" spc="-55"/>
              <a:t> </a:t>
            </a:r>
            <a:r>
              <a:rPr dirty="0" sz="1650"/>
              <a:t>New</a:t>
            </a:r>
            <a:r>
              <a:rPr dirty="0" sz="1650" spc="-5"/>
              <a:t> </a:t>
            </a:r>
            <a:r>
              <a:rPr dirty="0" sz="1650"/>
              <a:t>customer</a:t>
            </a:r>
            <a:r>
              <a:rPr dirty="0" sz="1650" spc="-25"/>
              <a:t> </a:t>
            </a:r>
            <a:r>
              <a:rPr dirty="0" sz="1650"/>
              <a:t>+</a:t>
            </a:r>
            <a:r>
              <a:rPr dirty="0" sz="1650" spc="-5"/>
              <a:t> </a:t>
            </a:r>
            <a:r>
              <a:rPr dirty="0" sz="1650"/>
              <a:t>monthly</a:t>
            </a:r>
            <a:r>
              <a:rPr dirty="0" sz="1650" spc="-20"/>
              <a:t> </a:t>
            </a:r>
            <a:r>
              <a:rPr dirty="0" sz="1650"/>
              <a:t>contract</a:t>
            </a:r>
            <a:r>
              <a:rPr dirty="0" sz="1650" spc="-45"/>
              <a:t> </a:t>
            </a:r>
            <a:r>
              <a:rPr dirty="0" sz="1650"/>
              <a:t>+</a:t>
            </a:r>
            <a:r>
              <a:rPr dirty="0" sz="1650" spc="-5"/>
              <a:t> </a:t>
            </a:r>
            <a:r>
              <a:rPr dirty="0" sz="1650"/>
              <a:t>digital</a:t>
            </a:r>
            <a:r>
              <a:rPr dirty="0" sz="1650" spc="-40"/>
              <a:t> </a:t>
            </a:r>
            <a:r>
              <a:rPr dirty="0" sz="1650"/>
              <a:t>services</a:t>
            </a:r>
            <a:r>
              <a:rPr dirty="0" sz="1650" spc="-5"/>
              <a:t> </a:t>
            </a:r>
            <a:r>
              <a:rPr dirty="0" sz="1650"/>
              <a:t>= </a:t>
            </a:r>
            <a:r>
              <a:rPr dirty="0" sz="1650" spc="-10"/>
              <a:t>highest risk.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989" y="1886254"/>
            <a:ext cx="5798941" cy="52415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7646" y="380657"/>
            <a:ext cx="10864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Actionable</a:t>
            </a:r>
            <a:r>
              <a:rPr dirty="0" spc="-200"/>
              <a:t> </a:t>
            </a:r>
            <a:r>
              <a:rPr dirty="0"/>
              <a:t>Churn</a:t>
            </a:r>
            <a:r>
              <a:rPr dirty="0" spc="-200"/>
              <a:t> </a:t>
            </a:r>
            <a:r>
              <a:rPr dirty="0"/>
              <a:t>Reduction</a:t>
            </a:r>
            <a:r>
              <a:rPr dirty="0" spc="-200"/>
              <a:t> </a:t>
            </a:r>
            <a:r>
              <a:rPr dirty="0" spc="-10"/>
              <a:t>Strategies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31683" y="1611481"/>
            <a:ext cx="4507230" cy="189674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400" spc="-20">
                <a:solidFill>
                  <a:srgbClr val="F44444"/>
                </a:solidFill>
                <a:latin typeface="Arial"/>
                <a:cs typeface="Arial"/>
              </a:rPr>
              <a:t>High-</a:t>
            </a:r>
            <a:r>
              <a:rPr dirty="0" sz="2400">
                <a:solidFill>
                  <a:srgbClr val="F44444"/>
                </a:solidFill>
                <a:latin typeface="Arial"/>
                <a:cs typeface="Arial"/>
              </a:rPr>
              <a:t>Risk</a:t>
            </a:r>
            <a:r>
              <a:rPr dirty="0" sz="2400" spc="-5">
                <a:solidFill>
                  <a:srgbClr val="F44444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44444"/>
                </a:solidFill>
                <a:latin typeface="Arial"/>
                <a:cs typeface="Arial"/>
              </a:rPr>
              <a:t>Customers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ts val="2095"/>
              </a:lnSpc>
              <a:spcBef>
                <a:spcPts val="685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Incentivize</a:t>
            </a:r>
            <a:r>
              <a:rPr dirty="0" sz="18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longer</a:t>
            </a:r>
            <a:r>
              <a:rPr dirty="0" sz="18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contracts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with</a:t>
            </a:r>
            <a:r>
              <a:rPr dirty="0" sz="18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benefits</a:t>
            </a:r>
            <a:r>
              <a:rPr dirty="0" sz="1000" spc="-10">
                <a:solidFill>
                  <a:srgbClr val="C9D5DE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55600" marR="620395" indent="-342900">
              <a:lnSpc>
                <a:spcPts val="2020"/>
              </a:lnSpc>
              <a:spcBef>
                <a:spcPts val="114"/>
              </a:spcBef>
              <a:buChar char="•"/>
              <a:tabLst>
                <a:tab pos="355600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Improve</a:t>
            </a:r>
            <a:r>
              <a:rPr dirty="0" sz="18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fiber</a:t>
            </a:r>
            <a:r>
              <a:rPr dirty="0" sz="18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service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experience</a:t>
            </a:r>
            <a:r>
              <a:rPr dirty="0" sz="18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C9D5DE"/>
                </a:solidFill>
                <a:latin typeface="Arial"/>
                <a:cs typeface="Arial"/>
              </a:rPr>
              <a:t>&amp;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promotions</a:t>
            </a:r>
            <a:r>
              <a:rPr dirty="0" sz="1000" spc="-10">
                <a:solidFill>
                  <a:srgbClr val="C9D5DE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ts val="1914"/>
              </a:lnSpc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Promote</a:t>
            </a:r>
            <a:r>
              <a:rPr dirty="0" sz="18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automatic</a:t>
            </a:r>
            <a:r>
              <a:rPr dirty="0" sz="1800" spc="-4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payment</a:t>
            </a:r>
            <a:r>
              <a:rPr dirty="0" sz="18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methods</a:t>
            </a:r>
            <a:r>
              <a:rPr dirty="0" sz="1000" spc="-10">
                <a:solidFill>
                  <a:srgbClr val="C9D5DE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ts val="2095"/>
              </a:lnSpc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Personalize</a:t>
            </a:r>
            <a:r>
              <a:rPr dirty="0" sz="18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digital</a:t>
            </a:r>
            <a:r>
              <a:rPr dirty="0" sz="18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communications</a:t>
            </a:r>
            <a:r>
              <a:rPr dirty="0" sz="1000" spc="-10">
                <a:solidFill>
                  <a:srgbClr val="C9D5DE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187" y="1751190"/>
            <a:ext cx="3616325" cy="1734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5CC87A"/>
                </a:solidFill>
                <a:latin typeface="Arial"/>
                <a:cs typeface="Arial"/>
              </a:rPr>
              <a:t>High-</a:t>
            </a:r>
            <a:r>
              <a:rPr dirty="0" sz="2400">
                <a:solidFill>
                  <a:srgbClr val="5CC87A"/>
                </a:solidFill>
                <a:latin typeface="Arial"/>
                <a:cs typeface="Arial"/>
              </a:rPr>
              <a:t>Retention</a:t>
            </a:r>
            <a:r>
              <a:rPr dirty="0" sz="2400" spc="-105">
                <a:solidFill>
                  <a:srgbClr val="5CC87A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5CC87A"/>
                </a:solidFill>
                <a:latin typeface="Arial"/>
                <a:cs typeface="Arial"/>
              </a:rPr>
              <a:t>Customers</a:t>
            </a:r>
            <a:endParaRPr sz="2400">
              <a:latin typeface="Arial"/>
              <a:cs typeface="Arial"/>
            </a:endParaRPr>
          </a:p>
          <a:p>
            <a:pPr marL="355600" marR="347980" indent="-342900">
              <a:lnSpc>
                <a:spcPts val="2090"/>
              </a:lnSpc>
              <a:spcBef>
                <a:spcPts val="200"/>
              </a:spcBef>
              <a:buChar char="•"/>
              <a:tabLst>
                <a:tab pos="355600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Enhance</a:t>
            </a:r>
            <a:r>
              <a:rPr dirty="0" sz="18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technical</a:t>
            </a:r>
            <a:r>
              <a:rPr dirty="0" sz="1800" spc="-4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support</a:t>
            </a:r>
            <a:r>
              <a:rPr dirty="0" sz="18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C9D5DE"/>
                </a:solidFill>
                <a:latin typeface="Arial"/>
                <a:cs typeface="Arial"/>
              </a:rPr>
              <a:t>&amp;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security.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ts val="1985"/>
              </a:lnSpc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Offer</a:t>
            </a:r>
            <a:r>
              <a:rPr dirty="0" sz="1800" spc="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upgrades</a:t>
            </a:r>
            <a:r>
              <a:rPr dirty="0" sz="18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bundled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ts val="2085"/>
              </a:lnSpc>
            </a:pP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packages.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ts val="2125"/>
              </a:lnSpc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Proactive</a:t>
            </a:r>
            <a:r>
              <a:rPr dirty="0" sz="18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loyalty</a:t>
            </a:r>
            <a:r>
              <a:rPr dirty="0" sz="18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programs.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1683" y="4835842"/>
            <a:ext cx="5403215" cy="185610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dirty="0" sz="24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Strategies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ts val="2095"/>
              </a:lnSpc>
              <a:spcBef>
                <a:spcPts val="685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Improve</a:t>
            </a:r>
            <a:r>
              <a:rPr dirty="0" sz="18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9978A"/>
                </a:solidFill>
                <a:latin typeface="Arial"/>
                <a:cs typeface="Arial"/>
              </a:rPr>
              <a:t>onboarding</a:t>
            </a:r>
            <a:r>
              <a:rPr dirty="0" sz="1800" spc="-15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for</a:t>
            </a:r>
            <a:r>
              <a:rPr dirty="0" sz="18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initial</a:t>
            </a:r>
            <a:r>
              <a:rPr dirty="0" sz="1800" spc="-4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engagement</a:t>
            </a:r>
            <a:r>
              <a:rPr dirty="0" sz="1000" spc="-10">
                <a:solidFill>
                  <a:srgbClr val="C9D5DE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ts val="2025"/>
              </a:lnSpc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Use</a:t>
            </a:r>
            <a:r>
              <a:rPr dirty="0" sz="18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9978A"/>
                </a:solidFill>
                <a:latin typeface="Arial"/>
                <a:cs typeface="Arial"/>
              </a:rPr>
              <a:t>predictive</a:t>
            </a:r>
            <a:r>
              <a:rPr dirty="0" sz="1800" spc="5">
                <a:solidFill>
                  <a:srgbClr val="09978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9978A"/>
                </a:solidFill>
                <a:latin typeface="Arial"/>
                <a:cs typeface="Arial"/>
              </a:rPr>
              <a:t>models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for</a:t>
            </a:r>
            <a:r>
              <a:rPr dirty="0" sz="18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early</a:t>
            </a:r>
            <a:r>
              <a:rPr dirty="0" sz="1800" spc="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detection</a:t>
            </a:r>
            <a:r>
              <a:rPr dirty="0" sz="1000" spc="-10">
                <a:solidFill>
                  <a:srgbClr val="C9D5DE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ts val="2045"/>
              </a:lnSpc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Optimize</a:t>
            </a:r>
            <a:r>
              <a:rPr dirty="0" sz="18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digital</a:t>
            </a:r>
            <a:r>
              <a:rPr dirty="0" sz="18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self-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service</a:t>
            </a:r>
            <a:r>
              <a:rPr dirty="0" sz="1800" spc="-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support.</a:t>
            </a:r>
            <a:endParaRPr sz="1800">
              <a:latin typeface="Arial"/>
              <a:cs typeface="Arial"/>
            </a:endParaRPr>
          </a:p>
          <a:p>
            <a:pPr marL="12700" marR="5080" indent="342265">
              <a:lnSpc>
                <a:spcPct val="77000"/>
              </a:lnSpc>
              <a:spcBef>
                <a:spcPts val="450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Personalize</a:t>
            </a:r>
            <a:r>
              <a:rPr dirty="0" sz="18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streaming</a:t>
            </a:r>
            <a:r>
              <a:rPr dirty="0" sz="18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offers</a:t>
            </a:r>
            <a:r>
              <a:rPr dirty="0" sz="18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based</a:t>
            </a:r>
            <a:r>
              <a:rPr dirty="0" sz="18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on</a:t>
            </a:r>
            <a:r>
              <a:rPr dirty="0" sz="1800" spc="-3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profile</a:t>
            </a:r>
            <a:r>
              <a:rPr dirty="0" sz="1800" spc="-20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C9D5DE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bundle</a:t>
            </a:r>
            <a:r>
              <a:rPr dirty="0" sz="1800" spc="-1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with</a:t>
            </a:r>
            <a:r>
              <a:rPr dirty="0" sz="1800" spc="-25">
                <a:solidFill>
                  <a:srgbClr val="C9D5D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9D5DE"/>
                </a:solidFill>
                <a:latin typeface="Arial"/>
                <a:cs typeface="Arial"/>
              </a:rPr>
              <a:t>other </a:t>
            </a:r>
            <a:r>
              <a:rPr dirty="0" sz="1800" spc="-10">
                <a:solidFill>
                  <a:srgbClr val="C9D5DE"/>
                </a:solidFill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829" y="3622408"/>
            <a:ext cx="6317487" cy="43155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99249"/>
            <a:ext cx="14616112" cy="17297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25195" y="466902"/>
            <a:ext cx="14052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Arial"/>
                <a:cs typeface="Arial"/>
              </a:rPr>
              <a:t>Conclusion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25195" y="977379"/>
            <a:ext cx="804989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000000"/>
                </a:solidFill>
              </a:rPr>
              <a:t>Driving</a:t>
            </a:r>
            <a:r>
              <a:rPr dirty="0" sz="4400" spc="-25">
                <a:solidFill>
                  <a:srgbClr val="000000"/>
                </a:solidFill>
              </a:rPr>
              <a:t> </a:t>
            </a:r>
            <a:r>
              <a:rPr dirty="0" sz="4400">
                <a:solidFill>
                  <a:srgbClr val="000000"/>
                </a:solidFill>
              </a:rPr>
              <a:t>Loyalty,</a:t>
            </a:r>
            <a:r>
              <a:rPr dirty="0" sz="4400" spc="-20">
                <a:solidFill>
                  <a:srgbClr val="000000"/>
                </a:solidFill>
              </a:rPr>
              <a:t> </a:t>
            </a:r>
            <a:r>
              <a:rPr dirty="0" sz="4400">
                <a:solidFill>
                  <a:srgbClr val="000000"/>
                </a:solidFill>
              </a:rPr>
              <a:t>Reducing</a:t>
            </a:r>
            <a:r>
              <a:rPr dirty="0" sz="4400" spc="-20">
                <a:solidFill>
                  <a:srgbClr val="000000"/>
                </a:solidFill>
              </a:rPr>
              <a:t> Churn</a:t>
            </a:r>
            <a:endParaRPr sz="44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730" y="2330257"/>
            <a:ext cx="119646" cy="1196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4806" y="2330257"/>
            <a:ext cx="119633" cy="1196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730" y="4070538"/>
            <a:ext cx="119646" cy="1196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4249" y="2121077"/>
            <a:ext cx="5074920" cy="164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"/>
                <a:cs typeface="Arial"/>
              </a:rPr>
              <a:t>Robust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Pipeline</a:t>
            </a:r>
            <a:endParaRPr sz="2200">
              <a:latin typeface="Arial"/>
              <a:cs typeface="Arial"/>
            </a:endParaRPr>
          </a:p>
          <a:p>
            <a:pPr algn="just" marL="12700" marR="5080">
              <a:lnSpc>
                <a:spcPct val="135300"/>
              </a:lnSpc>
              <a:spcBef>
                <a:spcPts val="1115"/>
              </a:spcBef>
            </a:pPr>
            <a:r>
              <a:rPr dirty="0" sz="1850">
                <a:latin typeface="Arial"/>
                <a:cs typeface="Arial"/>
              </a:rPr>
              <a:t>Advanced</a:t>
            </a:r>
            <a:r>
              <a:rPr dirty="0" sz="1850" spc="-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preprocessing,</a:t>
            </a:r>
            <a:r>
              <a:rPr dirty="0" sz="1850" spc="-5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variable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selection,</a:t>
            </a:r>
            <a:r>
              <a:rPr dirty="0" sz="1850" spc="-25">
                <a:latin typeface="Arial"/>
                <a:cs typeface="Arial"/>
              </a:rPr>
              <a:t> and </a:t>
            </a:r>
            <a:r>
              <a:rPr dirty="0" sz="1850">
                <a:latin typeface="Arial"/>
                <a:cs typeface="Arial"/>
              </a:rPr>
              <a:t>class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balancing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significantly</a:t>
            </a:r>
            <a:r>
              <a:rPr dirty="0" sz="1850" spc="-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improved</a:t>
            </a:r>
            <a:r>
              <a:rPr dirty="0" sz="1850" spc="-35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predictive capacity.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4249" y="4243666"/>
            <a:ext cx="5193665" cy="1645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"/>
                <a:cs typeface="Arial"/>
              </a:rPr>
              <a:t>Key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Factors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Validated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200"/>
              </a:lnSpc>
              <a:spcBef>
                <a:spcPts val="1115"/>
              </a:spcBef>
            </a:pPr>
            <a:r>
              <a:rPr dirty="0" sz="1850">
                <a:latin typeface="Arial"/>
                <a:cs typeface="Arial"/>
              </a:rPr>
              <a:t>Contract type,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payment method,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customer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tenure, </a:t>
            </a:r>
            <a:r>
              <a:rPr dirty="0" sz="1850">
                <a:latin typeface="Arial"/>
                <a:cs typeface="Arial"/>
              </a:rPr>
              <a:t>and</a:t>
            </a:r>
            <a:r>
              <a:rPr dirty="0" sz="1850" spc="-2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additional</a:t>
            </a:r>
            <a:r>
              <a:rPr dirty="0" sz="1850" spc="-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services</a:t>
            </a:r>
            <a:r>
              <a:rPr dirty="0" sz="1850" spc="-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are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primary</a:t>
            </a:r>
            <a:r>
              <a:rPr dirty="0" sz="1850" spc="-10">
                <a:latin typeface="Arial"/>
                <a:cs typeface="Arial"/>
              </a:rPr>
              <a:t> churn influences.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4806" y="4070538"/>
            <a:ext cx="119633" cy="1196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811769" y="2121077"/>
            <a:ext cx="5194300" cy="1264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Arial"/>
                <a:cs typeface="Arial"/>
              </a:rPr>
              <a:t>Interpretable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Insights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 sz="1850">
                <a:latin typeface="Arial"/>
                <a:cs typeface="Arial"/>
              </a:rPr>
              <a:t>Combined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SHAP</a:t>
            </a:r>
            <a:r>
              <a:rPr dirty="0" sz="1850" spc="-4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with</a:t>
            </a:r>
            <a:r>
              <a:rPr dirty="0" sz="1850" spc="-3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non-linear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models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for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clear,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850">
                <a:latin typeface="Arial"/>
                <a:cs typeface="Arial"/>
              </a:rPr>
              <a:t>explainable</a:t>
            </a:r>
            <a:r>
              <a:rPr dirty="0" sz="1850" spc="-4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churn</a:t>
            </a:r>
            <a:r>
              <a:rPr dirty="0" sz="1850" spc="-3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drivers.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11769" y="3862057"/>
            <a:ext cx="5268595" cy="164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"/>
                <a:cs typeface="Arial"/>
              </a:rPr>
              <a:t>Actionable</a:t>
            </a:r>
            <a:r>
              <a:rPr dirty="0" sz="2200" spc="-13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Strategies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300"/>
              </a:lnSpc>
              <a:spcBef>
                <a:spcPts val="1110"/>
              </a:spcBef>
            </a:pPr>
            <a:r>
              <a:rPr dirty="0" sz="1850">
                <a:latin typeface="Arial"/>
                <a:cs typeface="Arial"/>
              </a:rPr>
              <a:t>Derived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strategies</a:t>
            </a:r>
            <a:r>
              <a:rPr dirty="0" sz="1850" spc="-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are clear,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actionable,</a:t>
            </a:r>
            <a:r>
              <a:rPr dirty="0" sz="1850" spc="-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and </a:t>
            </a:r>
            <a:r>
              <a:rPr dirty="0" sz="1850" spc="-10">
                <a:latin typeface="Arial"/>
                <a:cs typeface="Arial"/>
              </a:rPr>
              <a:t>ready </a:t>
            </a:r>
            <a:r>
              <a:rPr dirty="0" sz="1850">
                <a:latin typeface="Arial"/>
                <a:cs typeface="Arial"/>
              </a:rPr>
              <a:t>for</a:t>
            </a:r>
            <a:r>
              <a:rPr dirty="0" sz="1850" spc="-3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immediate</a:t>
            </a:r>
            <a:r>
              <a:rPr dirty="0" sz="1850" spc="-2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implementation</a:t>
            </a:r>
            <a:r>
              <a:rPr dirty="0" sz="1850" spc="-4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by</a:t>
            </a:r>
            <a:r>
              <a:rPr dirty="0" sz="1850" spc="-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marketing</a:t>
            </a:r>
            <a:r>
              <a:rPr dirty="0" sz="1850" spc="-35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and </a:t>
            </a:r>
            <a:r>
              <a:rPr dirty="0" sz="1850">
                <a:latin typeface="Arial"/>
                <a:cs typeface="Arial"/>
              </a:rPr>
              <a:t>retention</a:t>
            </a:r>
            <a:r>
              <a:rPr dirty="0" sz="1850" spc="-4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teams.</a:t>
            </a:r>
            <a:endParaRPr sz="1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5195" y="6157495"/>
            <a:ext cx="11895455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95"/>
              </a:spcBef>
            </a:pPr>
            <a:r>
              <a:rPr dirty="0" sz="1850">
                <a:latin typeface="Arial"/>
                <a:cs typeface="Arial"/>
              </a:rPr>
              <a:t>This</a:t>
            </a:r>
            <a:r>
              <a:rPr dirty="0" sz="1850" spc="-2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combined</a:t>
            </a:r>
            <a:r>
              <a:rPr dirty="0" sz="1850" spc="-2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approach</a:t>
            </a:r>
            <a:r>
              <a:rPr dirty="0" sz="1850" spc="-5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provides</a:t>
            </a:r>
            <a:r>
              <a:rPr dirty="0" sz="1850" spc="-3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a</a:t>
            </a:r>
            <a:r>
              <a:rPr dirty="0" sz="1850" spc="-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solid</a:t>
            </a:r>
            <a:r>
              <a:rPr dirty="0" sz="1850" spc="-3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foundation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for</a:t>
            </a:r>
            <a:r>
              <a:rPr dirty="0" sz="1850" spc="-4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designing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customized</a:t>
            </a:r>
            <a:r>
              <a:rPr dirty="0" sz="1850" spc="-4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interventions</a:t>
            </a:r>
            <a:r>
              <a:rPr dirty="0" sz="1850" spc="-2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to</a:t>
            </a:r>
            <a:r>
              <a:rPr dirty="0" sz="1850" spc="-2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increase</a:t>
            </a:r>
            <a:r>
              <a:rPr dirty="0" sz="1850" spc="-3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loyalty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and </a:t>
            </a:r>
            <a:r>
              <a:rPr dirty="0" sz="1850">
                <a:latin typeface="Arial"/>
                <a:cs typeface="Arial"/>
              </a:rPr>
              <a:t>reduce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customer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churn.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Barbara de los Angeles Ortiz</dc:creator>
  <dcterms:created xsi:type="dcterms:W3CDTF">2026-01-29T17:42:59Z</dcterms:created>
  <dcterms:modified xsi:type="dcterms:W3CDTF">2026-01-29T17:42:59Z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2026-01-29T00:00:00Z</vt:filetime>
  </property>
  <property fmtid="{D5CDD505-2E9C-101B-9397-08002B2CF9AE}" pid="5" name="Producer">
    <vt:lpwstr>Microsoft® PowerPoint® for Microsoft 365</vt:lpwstr>
  </property>
</Properties>
</file>